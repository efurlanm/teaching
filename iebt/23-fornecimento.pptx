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pt-B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2" d="100"/>
          <a:sy n="92" d="100"/>
        </p:scale>
        <p:origin x="2154" y="90"/>
      </p:cViewPr>
      <p:guideLst>
        <p:guide pos="288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Relationship Id="rId24" Type="http://schemas.onlyoffice.com/jsaProject" Target="jsaProject.bin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55352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91247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1/7/2026</a:t>
            </a:fld>
            <a:endParaRPr lang="en-US"/>
          </a:p>
        </p:txBody>
      </p:sp>
      <p:sp>
        <p:nvSpPr>
          <p:cNvPr id="174946409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8003772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2416226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78660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412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971883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8141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135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660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858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24D30-784B-3693-523A-4D2C9FC6AB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487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7831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2723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D2D865-22D3-BC69-2459-7906158605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7020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698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749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69D904-075C-920B-A644-9BE5DE8C56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6149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0303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625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AC5E4E-7C1F-B98F-C16A-1D374391F3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234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07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202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D0709A-6375-691B-6F66-581FF00B03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549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4980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13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D3ADBB-6F7F-6AE8-3FD8-F125CB529E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679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7041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065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CDDECE-9B2F-C137-DC49-87CA3D1CE6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3A5821-F5A3-A88F-F346-E9026712C0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D01A28-2152-0FD3-8371-E15F75EA30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2ADA-83F8-2228-18FC-8D4628CBEF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499CE5-4EA8-5D03-5463-444DE4BC49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DF6A38-8B8E-ABCE-513D-656CBE7E3C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823EAD-9BBA-912C-10B5-BC22DCE4E4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22BA1-8C28-4E40-0DEE-BA0D6C9AFA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D1D377-A11A-CC4D-5490-E34848C1BA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794204" name="Title 1"/>
          <p:cNvSpPr>
            <a:spLocks noGrp="1"/>
          </p:cNvSpPr>
          <p:nvPr>
            <p:ph type="ctrTitle"/>
          </p:nvPr>
        </p:nvSpPr>
        <p:spPr bwMode="auto">
          <a:xfrm>
            <a:off x="288000" y="1123200"/>
            <a:ext cx="8640000" cy="2386800"/>
          </a:xfrm>
        </p:spPr>
        <p:txBody>
          <a:bodyPr anchor="b"/>
          <a:lstStyle>
            <a:lvl1pPr algn="l">
              <a:defRPr lang="pt-BR" sz="36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lang="pt-BR"/>
            </a:lvl2pPr>
            <a:lvl3pPr>
              <a:defRPr lang="pt-BR"/>
            </a:lvl3pPr>
            <a:lvl4pPr>
              <a:defRPr lang="pt-BR"/>
            </a:lvl4pPr>
            <a:lvl5pPr>
              <a:defRPr lang="pt-BR"/>
            </a:lvl5pPr>
            <a:lvl6pPr>
              <a:defRPr lang="pt-BR"/>
            </a:lvl6pPr>
            <a:lvl7pPr>
              <a:defRPr lang="pt-BR"/>
            </a:lvl7pPr>
            <a:lvl8pPr>
              <a:defRPr lang="pt-BR"/>
            </a:lvl8pPr>
            <a:lvl9pPr>
              <a:defRPr lang="pt-BR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87487456" name="Subtitle 2"/>
          <p:cNvSpPr>
            <a:spLocks noGrp="1"/>
          </p:cNvSpPr>
          <p:nvPr>
            <p:ph type="subTitle" idx="1"/>
          </p:nvPr>
        </p:nvSpPr>
        <p:spPr bwMode="auto">
          <a:xfrm>
            <a:off x="288000" y="3602037"/>
            <a:ext cx="8640000" cy="3119436"/>
          </a:xfrm>
        </p:spPr>
        <p:txBody>
          <a:bodyPr/>
          <a:lstStyle>
            <a:lvl1pPr marL="0" indent="0" algn="l">
              <a:buNone/>
              <a:defRPr lang="pt-BR" sz="2400">
                <a:latin typeface="Arial"/>
                <a:ea typeface="Arial"/>
                <a:cs typeface="Arial"/>
              </a:defRPr>
            </a:lvl1pPr>
            <a:lvl2pPr marL="457200" indent="0" algn="l">
              <a:buNone/>
              <a:defRPr lang="pt-BR" sz="2000">
                <a:latin typeface="Arial"/>
                <a:ea typeface="Arial"/>
                <a:cs typeface="Arial"/>
              </a:defRPr>
            </a:lvl2pPr>
            <a:lvl3pPr marL="914400" indent="0" algn="l">
              <a:buNone/>
              <a:defRPr lang="pt-BR" sz="1800">
                <a:latin typeface="Arial"/>
                <a:ea typeface="Arial"/>
                <a:cs typeface="Arial"/>
              </a:defRPr>
            </a:lvl3pPr>
            <a:lvl4pPr marL="1371600" indent="0" algn="l">
              <a:buNone/>
              <a:defRPr lang="pt-BR" sz="1600">
                <a:latin typeface="Arial"/>
                <a:ea typeface="Arial"/>
                <a:cs typeface="Arial"/>
              </a:defRPr>
            </a:lvl4pPr>
            <a:lvl5pPr marL="1828800" indent="0" algn="l">
              <a:buNone/>
              <a:defRPr lang="pt-BR" sz="1600">
                <a:latin typeface="Arial"/>
                <a:ea typeface="Arial"/>
                <a:cs typeface="Arial"/>
              </a:defRPr>
            </a:lvl5pPr>
            <a:lvl6pPr marL="2286000" indent="0" algn="l">
              <a:buNone/>
              <a:defRPr lang="pt-BR" sz="1600">
                <a:latin typeface="Arial"/>
                <a:ea typeface="Arial"/>
                <a:cs typeface="Arial"/>
              </a:defRPr>
            </a:lvl6pPr>
            <a:lvl7pPr marL="2743200" indent="0" algn="l">
              <a:buNone/>
              <a:defRPr lang="pt-BR" sz="1600">
                <a:latin typeface="Arial"/>
                <a:ea typeface="Arial"/>
                <a:cs typeface="Arial"/>
              </a:defRPr>
            </a:lvl7pPr>
            <a:lvl8pPr marL="3200400" indent="0" algn="l">
              <a:buNone/>
              <a:defRPr lang="pt-BR" sz="1600">
                <a:latin typeface="Arial"/>
                <a:ea typeface="Arial"/>
                <a:cs typeface="Arial"/>
              </a:defRPr>
            </a:lvl8pPr>
            <a:lvl9pPr marL="3657600" indent="0" algn="l">
              <a:buNone/>
              <a:defRPr lang="pt-BR" sz="1600"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2134120187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>
            <a:lvl1pPr>
              <a:defRPr lang="pt-BR"/>
            </a:lvl1pPr>
            <a:lvl2pPr>
              <a:defRPr lang="pt-BR"/>
            </a:lvl2pPr>
            <a:lvl3pPr>
              <a:defRPr lang="pt-BR"/>
            </a:lvl3pPr>
            <a:lvl4pPr>
              <a:defRPr lang="pt-BR"/>
            </a:lvl4pPr>
            <a:lvl5pPr>
              <a:defRPr lang="pt-BR"/>
            </a:lvl5pPr>
            <a:lvl6pPr>
              <a:defRPr lang="pt-BR"/>
            </a:lvl6pPr>
            <a:lvl7pPr>
              <a:defRPr lang="pt-BR"/>
            </a:lvl7pPr>
            <a:lvl8pPr>
              <a:defRPr lang="pt-BR"/>
            </a:lvl8pPr>
            <a:lvl9pPr>
              <a:defRPr lang="pt-BR"/>
            </a:lvl9pPr>
          </a:lstStyle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68609268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>
            <a:lvl1pPr>
              <a:defRPr lang="pt-BR"/>
            </a:lvl1pPr>
            <a:lvl2pPr>
              <a:defRPr lang="pt-BR"/>
            </a:lvl2pPr>
            <a:lvl3pPr>
              <a:defRPr lang="pt-BR"/>
            </a:lvl3pPr>
            <a:lvl4pPr>
              <a:defRPr lang="pt-BR"/>
            </a:lvl4pPr>
            <a:lvl5pPr>
              <a:defRPr lang="pt-BR"/>
            </a:lvl5pPr>
            <a:lvl6pPr>
              <a:defRPr lang="pt-BR"/>
            </a:lvl6pPr>
            <a:lvl7pPr>
              <a:defRPr lang="pt-BR"/>
            </a:lvl7pPr>
            <a:lvl8pPr>
              <a:defRPr lang="pt-BR"/>
            </a:lvl8pPr>
            <a:lvl9pPr>
              <a:defRPr lang="pt-BR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561326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lang="pt-BR">
                <a:solidFill>
                  <a:schemeClr val="tx2"/>
                </a:solidFill>
              </a:defRPr>
            </a:lvl1pPr>
            <a:lvl2pPr>
              <a:defRPr lang="pt-BR"/>
            </a:lvl2pPr>
            <a:lvl3pPr>
              <a:defRPr lang="pt-BR"/>
            </a:lvl3pPr>
            <a:lvl4pPr>
              <a:defRPr lang="pt-BR"/>
            </a:lvl4pPr>
            <a:lvl5pPr>
              <a:defRPr lang="pt-BR"/>
            </a:lvl5pPr>
            <a:lvl6pPr>
              <a:defRPr lang="pt-BR"/>
            </a:lvl6pPr>
            <a:lvl7pPr>
              <a:defRPr lang="pt-BR"/>
            </a:lvl7pPr>
            <a:lvl8pPr>
              <a:defRPr lang="pt-BR"/>
            </a:lvl8pPr>
            <a:lvl9pPr>
              <a:defRPr lang="pt-BR"/>
            </a:lvl9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4223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2369435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12464585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42912036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67545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82555" name="Title 1"/>
          <p:cNvSpPr>
            <a:spLocks noGrp="1"/>
          </p:cNvSpPr>
          <p:nvPr>
            <p:ph type="title"/>
          </p:nvPr>
        </p:nvSpPr>
        <p:spPr bwMode="auto"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901599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887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4939586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20462075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17718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9319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4539098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747084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49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41061670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4260843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98121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616352" name="Title 1"/>
          <p:cNvSpPr>
            <a:spLocks noGrp="1"/>
          </p:cNvSpPr>
          <p:nvPr>
            <p:ph type="title"/>
          </p:nvPr>
        </p:nvSpPr>
        <p:spPr bwMode="auto">
          <a:xfrm>
            <a:off x="629841" y="365125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238995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177741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1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261828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49" y="1681163"/>
            <a:ext cx="38873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687698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49" y="2505074"/>
            <a:ext cx="3887390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05016633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594134694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854206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2820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36880912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999771818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469406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071378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618080971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592989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17358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97317966" name="Content Placeholder 2"/>
          <p:cNvSpPr>
            <a:spLocks noGrp="1"/>
          </p:cNvSpPr>
          <p:nvPr>
            <p:ph idx="1"/>
          </p:nvPr>
        </p:nvSpPr>
        <p:spPr bwMode="auto">
          <a:xfrm>
            <a:off x="3887390" y="987425"/>
            <a:ext cx="462914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80540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3976023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250365252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35609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806528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3024016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3887390" y="987425"/>
            <a:ext cx="462914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9195513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101475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42621158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44272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3413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4015333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82771232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70132638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57818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22252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3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0138903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26843885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64987126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10400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689802" name="Title Placeholder 1"/>
          <p:cNvSpPr>
            <a:spLocks noGrp="1"/>
          </p:cNvSpPr>
          <p:nvPr>
            <p:ph type="title"/>
          </p:nvPr>
        </p:nvSpPr>
        <p:spPr bwMode="auto">
          <a:xfrm>
            <a:off x="288000" y="288000"/>
            <a:ext cx="8640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14999"/>
              </a:lnSpc>
              <a:defRPr lang="pt-BR" sz="320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2pPr>
            <a:lvl3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3pPr>
            <a:lvl4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4pPr>
            <a:lvl5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5pPr>
            <a:lvl6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6pPr>
            <a:lvl7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7pPr>
            <a:lvl8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8pPr>
            <a:lvl9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340451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8000" y="1440000"/>
            <a:ext cx="8640000" cy="52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14999"/>
              </a:lnSpc>
              <a:spcBef>
                <a:spcPts val="3401"/>
              </a:spcBef>
              <a:defRPr lang="pt-BR" sz="2200">
                <a:latin typeface="Arial"/>
                <a:ea typeface="Arial"/>
                <a:cs typeface="Arial"/>
              </a:defRPr>
            </a:lvl1pPr>
            <a:lvl2pPr>
              <a:lnSpc>
                <a:spcPct val="114999"/>
              </a:lnSpc>
              <a:spcBef>
                <a:spcPts val="566"/>
              </a:spcBef>
              <a:defRPr lang="pt-BR" sz="2000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14999"/>
              </a:lnSpc>
              <a:spcBef>
                <a:spcPts val="566"/>
              </a:spcBef>
              <a:defRPr lang="pt-BR" sz="1800">
                <a:solidFill>
                  <a:srgbClr val="00B050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14999"/>
              </a:lnSpc>
              <a:spcBef>
                <a:spcPts val="566"/>
              </a:spcBef>
              <a:defRPr lang="pt-BR" sz="18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14999"/>
              </a:lnSpc>
              <a:spcBef>
                <a:spcPts val="566"/>
              </a:spcBef>
              <a:defRPr lang="pt-BR" sz="1800">
                <a:solidFill>
                  <a:srgbClr val="7030A0"/>
                </a:solidFill>
                <a:latin typeface="Arial"/>
                <a:ea typeface="Arial"/>
                <a:cs typeface="Arial"/>
              </a:defRPr>
            </a:lvl5pPr>
            <a:lvl6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6pPr>
            <a:lvl7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7pPr>
            <a:lvl8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8pPr>
            <a:lvl9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6182793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908400" y="108000"/>
            <a:ext cx="214071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14999"/>
              </a:lnSpc>
              <a:defRPr lang="pt-BR" sz="18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2pPr>
            <a:lvl3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3pPr>
            <a:lvl4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4pPr>
            <a:lvl5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5pPr>
            <a:lvl6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6pPr>
            <a:lvl7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7pPr>
            <a:lvl8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8pPr>
            <a:lvl9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530033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 algn="l">
              <a:defRPr/>
            </a:pPr>
            <a:r>
              <a:rPr lang="pt-BR" sz="36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Fornecimento de energia: padrão e dimensionamento</a:t>
            </a:r>
            <a:endParaRPr/>
          </a:p>
        </p:txBody>
      </p:sp>
      <p:sp>
        <p:nvSpPr>
          <p:cNvPr id="2085739076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algn="l">
              <a:spcBef>
                <a:spcPts val="1417"/>
              </a:spcBef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Instalações Elétricas de Baixa Tensão</a:t>
            </a:r>
            <a:endParaRPr/>
          </a:p>
          <a:p>
            <a:pPr algn="l">
              <a:spcBef>
                <a:spcPts val="4251"/>
              </a:spcBef>
              <a:defRPr/>
            </a:pPr>
            <a:r>
              <a:rPr lang="pt-BR" sz="1800"/>
              <a:t>Eduardo Furlan Miranda</a:t>
            </a:r>
            <a:endParaRPr lang="pt-BR" sz="2000"/>
          </a:p>
          <a:p>
            <a:pPr algn="l">
              <a:spcBef>
                <a:spcPts val="0"/>
              </a:spcBef>
              <a:defRPr/>
            </a:pPr>
            <a:r>
              <a:rPr lang="pt-BR" sz="1800"/>
              <a:t>2026-02-01</a:t>
            </a:r>
            <a:endParaRPr sz="2000"/>
          </a:p>
          <a:p>
            <a:pPr algn="r">
              <a:spcBef>
                <a:spcPts val="5669"/>
              </a:spcBef>
              <a:defRPr/>
            </a:pPr>
            <a:r>
              <a:rPr lang="pt-BR" sz="1800"/>
              <a:t>Baseado em: </a:t>
            </a:r>
            <a:r>
              <a:rPr lang="pt-B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NUNES, B. M. </a:t>
            </a:r>
            <a:r>
              <a:rPr lang="pt-BR" sz="1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Instalações elétricas de baixa tensão</a:t>
            </a:r>
            <a:r>
              <a:rPr lang="pt-BR" sz="1800"/>
              <a:t>.</a:t>
            </a:r>
            <a:endParaRPr sz="2000"/>
          </a:p>
          <a:p>
            <a:pPr algn="r">
              <a:spcBef>
                <a:spcPts val="0"/>
              </a:spcBef>
              <a:defRPr/>
            </a:pPr>
            <a:r>
              <a:rPr lang="pt-B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Londrina: EDE SA, 2019. ISBN 978-85-522-1412-0</a:t>
            </a:r>
            <a:r>
              <a:rPr lang="pt-BR" sz="1800"/>
              <a:t>.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1131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356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pt-BR"/>
              <a:t>Atualmente do Brasil existem mais de 50 empresas de concessão de energia elétrica, e entre elas</a:t>
            </a:r>
            <a:endParaRPr lang="pt-BR"/>
          </a:p>
          <a:p>
            <a:pPr lvl="1">
              <a:defRPr/>
            </a:pPr>
            <a:r>
              <a:rPr lang="pt-BR"/>
              <a:t>Neoenergia Elektro, CPFL, Enel Distribuição São Paulo</a:t>
            </a:r>
            <a:r>
              <a:rPr lang="en-US"/>
              <a:t>,</a:t>
            </a:r>
            <a:r>
              <a:rPr lang="pt-BR"/>
              <a:t> Cemig</a:t>
            </a:r>
            <a:r>
              <a:rPr lang="en-US"/>
              <a:t>, etc.</a:t>
            </a:r>
            <a:endParaRPr/>
          </a:p>
          <a:p>
            <a:pPr lvl="0">
              <a:defRPr/>
            </a:pP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Cada distribuidora estabelece normas e limites de fornecimento de energia para clientes individuais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</a:t>
            </a: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coletivos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</a:t>
            </a: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industriais</a:t>
            </a:r>
            <a:endParaRPr lang="pt-BR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>
              <a:defRPr/>
            </a:pP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 base na potência instalada e da demanda máxima do cliente, a distribuidora estabelece qual deve ser o sistema de fornecimento, monofásic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</a:t>
            </a: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bifásico e trifásico</a:t>
            </a:r>
            <a:endParaRPr lang="pt-BR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</a:t>
            </a: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istema de distribuição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tensão entre fase e fase, fase e neutro, número de condutores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</a:t>
            </a: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frequência nominal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</a:t>
            </a: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60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Hz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</p:txBody>
      </p:sp>
      <p:sp>
        <p:nvSpPr>
          <p:cNvPr id="11839299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A9AEF2A-9EE5-1268-27EB-95299EDAC1A4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6271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Definições</a:t>
            </a:r>
            <a:endParaRPr/>
          </a:p>
        </p:txBody>
      </p:sp>
      <p:sp>
        <p:nvSpPr>
          <p:cNvPr id="16511275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Consumidor</a:t>
            </a:r>
            <a:endParaRPr lang="pt-BR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</a:t>
            </a:r>
            <a:r>
              <a:rPr lang="pt-B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essoa física ou jurídica que solicitar à distribuidora o fornecimento de energia elétrica</a:t>
            </a:r>
            <a:endParaRPr lang="pt-BR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>
              <a:defRPr/>
            </a:pP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Unidade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</a:t>
            </a: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onsumidora</a:t>
            </a:r>
            <a:endParaRPr lang="pt-BR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Á</a:t>
            </a:r>
            <a:r>
              <a:rPr lang="pt-B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 de fornecimento de energia elétrica que apresenta apenas um consumidor e um único ponto de conexão</a:t>
            </a:r>
            <a:endParaRPr lang="pt-BR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>
              <a:defRPr/>
            </a:pP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Ponto de Conexão</a:t>
            </a:r>
            <a:endParaRPr lang="pt-BR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</a:t>
            </a:r>
            <a:r>
              <a:rPr lang="pt-B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ntre o sistema de distribuição e a nova unidade consumidora</a:t>
            </a:r>
            <a:endParaRPr lang="pt-BR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2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</a:t>
            </a:r>
            <a:r>
              <a:rPr lang="pt-B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esponsabilidade da distribuidora a garantia do fornecimento da ligação e eventuais manutenções necessárias até esse ponto</a:t>
            </a:r>
            <a:endParaRPr/>
          </a:p>
        </p:txBody>
      </p:sp>
      <p:sp>
        <p:nvSpPr>
          <p:cNvPr id="16259927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109FFD8-133C-D9B7-62AA-D40BF4AE6B36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8561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0950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Ramal de Conexão</a:t>
            </a:r>
            <a:endParaRPr lang="pt-BR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</a:t>
            </a:r>
            <a:r>
              <a:rPr lang="pt-B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ondutores utilizados para derivar do sistema de distribuição até o ponto de conexão</a:t>
            </a:r>
            <a:endParaRPr lang="pt-BR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>
              <a:defRPr/>
            </a:pP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Padrão de Entrada</a:t>
            </a:r>
            <a:endParaRPr lang="pt-BR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</a:t>
            </a:r>
            <a:r>
              <a:rPr lang="pt-B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onjunto de componentes instalado dentro da unidade consumidora, formada por dispositivo de proteção, poste, condutores, centro de medição e ramal de derivação.</a:t>
            </a:r>
            <a:endParaRPr/>
          </a:p>
        </p:txBody>
      </p:sp>
      <p:sp>
        <p:nvSpPr>
          <p:cNvPr id="1866189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8EB1B95-FFED-E9E1-11A8-029E76B4B19A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103522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/>
              <a:t>C</a:t>
            </a:r>
            <a:r>
              <a:rPr lang="pt-BR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omponentes básicos das entradas de serviço</a:t>
            </a:r>
            <a:br>
              <a:rPr/>
            </a:br>
            <a:r>
              <a:rPr lang="en-US" sz="2600"/>
              <a:t>Neoenergia </a:t>
            </a:r>
            <a:r>
              <a:rPr lang="en-US" sz="26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DIS-NOR-030</a:t>
            </a:r>
            <a:endParaRPr/>
          </a:p>
        </p:txBody>
      </p:sp>
      <p:sp>
        <p:nvSpPr>
          <p:cNvPr id="196436701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32007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A65FB2-09CB-6D7B-0CA7-BB0811FDFF64}" type="slidenum">
              <a:rPr lang="en-US"/>
              <a:t/>
            </a:fld>
            <a:endParaRPr lang="en-US"/>
          </a:p>
        </p:txBody>
      </p:sp>
      <p:pic>
        <p:nvPicPr>
          <p:cNvPr id="13805686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2199" y="1023581"/>
            <a:ext cx="8991599" cy="5848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111147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pt-BR" sz="26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Padrão de Entrada de Energia com Duas Medições e um Único Eletroduto de Entrada</a:t>
            </a:r>
            <a:r>
              <a:rPr lang="en-US" sz="2600"/>
              <a:t> (Neoenergia)</a:t>
            </a:r>
            <a:endParaRPr sz="2600"/>
          </a:p>
        </p:txBody>
      </p:sp>
      <p:sp>
        <p:nvSpPr>
          <p:cNvPr id="449807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9535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3BC2B4D-B06E-455D-B0F6-64D610912204}" type="slidenum">
              <a:rPr lang="en-US"/>
              <a:t/>
            </a:fld>
            <a:endParaRPr lang="en-US"/>
          </a:p>
        </p:txBody>
      </p:sp>
      <p:pic>
        <p:nvPicPr>
          <p:cNvPr id="17359312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82387" y="1193297"/>
            <a:ext cx="7416387" cy="55845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6854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1608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</a:t>
            </a: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 materiais utilizados para construção da entrada de energia devem ser homologados pela concessionária conforme sua norma técnica</a:t>
            </a:r>
            <a:endParaRPr/>
          </a:p>
          <a:p>
            <a:pPr>
              <a:defRPr/>
            </a:pPr>
            <a:r>
              <a:rPr lang="pt-B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Limites de Fornecimento</a:t>
            </a:r>
            <a:endParaRPr/>
          </a:p>
          <a:p>
            <a:pPr lvl="1">
              <a:defRPr/>
            </a:pPr>
            <a:r>
              <a:rPr lang="pt-BR" sz="2000" b="0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</a:rPr>
              <a:t>Cada concessionária estabelece o limite máximo de potência instalada, de demanda e de tipo de carga que as instalações residenciais podem receber</a:t>
            </a:r>
            <a:endParaRPr lang="pt-BR" sz="2000" b="0" i="0" u="none" strike="noStrike" cap="none" spc="0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pt-BR" sz="2000" b="0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</a:rPr>
              <a:t>No geral temos um consenso que a potência máxima instalada em residências de baixa tensão é de 75 kW</a:t>
            </a:r>
            <a:endParaRPr/>
          </a:p>
        </p:txBody>
      </p:sp>
      <p:sp>
        <p:nvSpPr>
          <p:cNvPr id="7539927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9CC98F6-3BF4-490E-C651-36878FD24992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735106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pt-BR" sz="2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Dimensionamento dos Ramais de Conexão, Entrada e Distribuição</a:t>
            </a:r>
            <a:br>
              <a:rPr lang="pt-BR" sz="24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</a:br>
            <a:r>
              <a:rPr lang="en-US" sz="2400"/>
              <a:t>(</a:t>
            </a:r>
            <a:r>
              <a:rPr lang="en-US" sz="2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DIS-NOR-030</a:t>
            </a:r>
            <a:r>
              <a:rPr lang="en-US" sz="2400"/>
              <a:t> p.60)</a:t>
            </a:r>
            <a:endParaRPr sz="2400"/>
          </a:p>
        </p:txBody>
      </p:sp>
      <p:sp>
        <p:nvSpPr>
          <p:cNvPr id="93263881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8309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C7AB7D1-26D6-8EE8-D479-F019D72AF0D2}" type="slidenum">
              <a:rPr lang="en-US"/>
              <a:t/>
            </a:fld>
            <a:endParaRPr lang="en-US"/>
          </a:p>
        </p:txBody>
      </p:sp>
      <p:pic>
        <p:nvPicPr>
          <p:cNvPr id="20141435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5750" y="1440000"/>
            <a:ext cx="8572500" cy="4505324"/>
          </a:xfrm>
          <a:prstGeom prst="rect">
            <a:avLst/>
          </a:prstGeom>
        </p:spPr>
      </p:pic>
      <p:sp>
        <p:nvSpPr>
          <p:cNvPr id="685978224" name=""/>
          <p:cNvSpPr txBox="1"/>
          <p:nvPr/>
        </p:nvSpPr>
        <p:spPr bwMode="auto">
          <a:xfrm rot="0" flipH="0" flipV="0">
            <a:off x="456380" y="6077167"/>
            <a:ext cx="840226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Legenda: CU = Cobre; AL = Alumínio; MULT = Cabo Multiplexado; CONC = Cabo Concêntrico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4766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(continuação)</a:t>
            </a:r>
            <a:endParaRPr/>
          </a:p>
        </p:txBody>
      </p:sp>
      <p:sp>
        <p:nvSpPr>
          <p:cNvPr id="10403159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1609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B5E3572-F59E-3D3F-2348-14B97784BBDE}" type="slidenum">
              <a:rPr lang="en-US"/>
              <a:t/>
            </a:fld>
            <a:endParaRPr lang="en-US"/>
          </a:p>
        </p:txBody>
      </p:sp>
      <p:pic>
        <p:nvPicPr>
          <p:cNvPr id="1142061612" name=""/>
          <p:cNvPicPr>
            <a:picLocks noChangeAspect="1"/>
          </p:cNvPicPr>
          <p:nvPr/>
        </p:nvPicPr>
        <p:blipFill rotWithShape="1">
          <a:blip r:embed="rId3"/>
          <a:srcRect l="49574" t="0" r="0" b="0"/>
          <a:stretch/>
        </p:blipFill>
        <p:spPr bwMode="auto">
          <a:xfrm flipH="0" flipV="0">
            <a:off x="277311" y="1947648"/>
            <a:ext cx="633993" cy="4505324"/>
          </a:xfrm>
          <a:prstGeom prst="rect">
            <a:avLst/>
          </a:prstGeom>
        </p:spPr>
      </p:pic>
      <p:pic>
        <p:nvPicPr>
          <p:cNvPr id="114171640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11305" y="1947648"/>
            <a:ext cx="8105774" cy="4486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803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Exemplo</a:t>
            </a:r>
            <a:endParaRPr/>
          </a:p>
        </p:txBody>
      </p:sp>
      <p:sp>
        <p:nvSpPr>
          <p:cNvPr id="42881591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Uma residência com potência instalada de 45 kW e demanda máxima de 39 kVA será construída na região na concessionária Elektro. Com base na Tabela 2.19, qual seria o disjuntor de entrada recomendado pela concessionária?</a:t>
            </a:r>
            <a:endParaRPr/>
          </a:p>
          <a:p>
            <a:pPr lvl="1">
              <a:defRPr/>
            </a:pPr>
            <a:r>
              <a:rPr lang="en-US"/>
              <a:t>A</a:t>
            </a:r>
            <a:r>
              <a:rPr lang="pt-BR"/>
              <a:t> norma DIS-NOR-030 da Neoenergia Elektro (Revisão 06, 2025), indica que uma demanda máxima de 39 kVA enquadra a unidade consumidora na categoria T3</a:t>
            </a:r>
            <a:endParaRPr lang="pt-BR"/>
          </a:p>
          <a:p>
            <a:pPr lvl="1">
              <a:defRPr/>
            </a:pPr>
            <a:r>
              <a:rPr lang="pt-BR"/>
              <a:t>Esta categoria compreende a faixa de demanda de 38,1 kVA a 47 kVA e determina a utilização de um disjuntor termomagnético de </a:t>
            </a:r>
            <a:r>
              <a:rPr lang="en-US"/>
              <a:t> </a:t>
            </a:r>
            <a:r>
              <a:rPr lang="pt-BR"/>
              <a:t>125 A</a:t>
            </a:r>
            <a:endParaRPr lang="pt-BR"/>
          </a:p>
        </p:txBody>
      </p:sp>
      <p:sp>
        <p:nvSpPr>
          <p:cNvPr id="7629278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BCA57BC-312C-3702-9043-F02528A9F0CC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1602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59521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pt-BR"/>
              <a:t>No caso de edificações coletivas, os limites de atendimento em baixa tensão variam conforme a distribuidora</a:t>
            </a:r>
            <a:endParaRPr lang="pt-BR"/>
          </a:p>
          <a:p>
            <a:pPr>
              <a:defRPr/>
            </a:pPr>
            <a:r>
              <a:rPr lang="pt-BR"/>
              <a:t>Na CEMIG (Norma ND-5.2), o atendimento é feito via</a:t>
            </a:r>
            <a:endParaRPr lang="pt-BR"/>
          </a:p>
          <a:p>
            <a:pPr lvl="1">
              <a:defRPr/>
            </a:pPr>
            <a:r>
              <a:rPr lang="en-US"/>
              <a:t>R</a:t>
            </a:r>
            <a:r>
              <a:rPr lang="pt-BR"/>
              <a:t>amal aéreo para demandas até 95 kVA</a:t>
            </a:r>
            <a:endParaRPr lang="pt-BR"/>
          </a:p>
          <a:p>
            <a:pPr lvl="1">
              <a:defRPr/>
            </a:pPr>
            <a:r>
              <a:rPr lang="en-US"/>
              <a:t>R</a:t>
            </a:r>
            <a:r>
              <a:rPr lang="pt-BR"/>
              <a:t>amal subterrâneo em baixa tensão para demandas entre 95 kVA e 304 kVA</a:t>
            </a:r>
            <a:endParaRPr lang="pt-BR"/>
          </a:p>
          <a:p>
            <a:pPr lvl="0">
              <a:defRPr/>
            </a:pPr>
            <a:r>
              <a:rPr lang="pt-BR"/>
              <a:t>Somente para demandas superiores a 304 kVA é obrigatório o atendimento em Média Tensão</a:t>
            </a:r>
            <a:endParaRPr lang="pt-BR"/>
          </a:p>
          <a:p>
            <a:pPr lvl="1">
              <a:defRPr/>
            </a:pPr>
            <a:r>
              <a:rPr lang="en-US"/>
              <a:t>E</a:t>
            </a:r>
            <a:r>
              <a:rPr lang="pt-BR"/>
              <a:t>xigindo que o consumidor construa uma subestação de transformação (transformador) em sua propriedade	</a:t>
            </a:r>
            <a:endParaRPr/>
          </a:p>
        </p:txBody>
      </p:sp>
      <p:sp>
        <p:nvSpPr>
          <p:cNvPr id="16630905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557A6E1-8EF0-7D64-E738-975B049C5B37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9574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4033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/>
              <a:t>N</a:t>
            </a:r>
            <a:r>
              <a:rPr lang="pt-BR"/>
              <a:t>as normas atuais (ex: CEMIG ND-5.2), faixas de demanda intermediárias (como entre 95 kVA e 304 kVA) são atendidas por</a:t>
            </a:r>
            <a:endParaRPr lang="pt-BR"/>
          </a:p>
          <a:p>
            <a:pPr lvl="1">
              <a:defRPr/>
            </a:pPr>
            <a:r>
              <a:rPr lang="en-US"/>
              <a:t>R</a:t>
            </a:r>
            <a:r>
              <a:rPr lang="pt-BR"/>
              <a:t>amal de conexão subterrâneo em baixa tensão</a:t>
            </a:r>
            <a:endParaRPr lang="pt-BR"/>
          </a:p>
          <a:p>
            <a:pPr lvl="1">
              <a:defRPr/>
            </a:pPr>
            <a:r>
              <a:rPr lang="en-US"/>
              <a:t>C</a:t>
            </a:r>
            <a:r>
              <a:rPr lang="pt-BR"/>
              <a:t>onectadas à rede da distribuidora através de caixas de inspeção</a:t>
            </a:r>
            <a:endParaRPr lang="pt-BR"/>
          </a:p>
          <a:p>
            <a:pPr lvl="2">
              <a:defRPr/>
            </a:pPr>
            <a:r>
              <a:rPr lang="en-US"/>
              <a:t>S</a:t>
            </a:r>
            <a:r>
              <a:rPr lang="pt-BR"/>
              <a:t>em a necessidade imediata de subestação de transformação própria</a:t>
            </a:r>
            <a:endParaRPr lang="pt-BR"/>
          </a:p>
          <a:p>
            <a:pPr lvl="3">
              <a:defRPr/>
            </a:pPr>
            <a:r>
              <a:rPr lang="en-US"/>
              <a:t>A</a:t>
            </a:r>
            <a:r>
              <a:rPr lang="pt-BR"/>
              <a:t> qual torna-se mandatória apenas para demandas superiores a este limite.</a:t>
            </a:r>
            <a:endParaRPr lang="pt-BR"/>
          </a:p>
          <a:p>
            <a:pPr lvl="0">
              <a:defRPr/>
            </a:pPr>
            <a:r>
              <a:rPr lang="pt-BR"/>
              <a:t>A norma DIS-NOR-053 apresenta o dimensionamento para edifícios de uso coletivo na área da Neoenergia (substituindo a antiga ND.26)</a:t>
            </a:r>
            <a:endParaRPr lang="pt-BR"/>
          </a:p>
          <a:p>
            <a:pPr lvl="0">
              <a:defRPr/>
            </a:pPr>
            <a:r>
              <a:rPr lang="en-US"/>
              <a:t>A</a:t>
            </a:r>
            <a:r>
              <a:rPr lang="pt-BR"/>
              <a:t> norma ND-5.2 (versão 2024/2025) apresenta a classificação feita pela distribuidora Cemig para edificações coletivas, estabelecendo categorias de atendimento baseadas na demanda em kVA</a:t>
            </a:r>
            <a:endParaRPr/>
          </a:p>
        </p:txBody>
      </p:sp>
      <p:sp>
        <p:nvSpPr>
          <p:cNvPr id="18225693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62395A-7881-9DD5-70C6-17E97AB5F33C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722204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pt-BR" sz="20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Elementos Componentes Da Entrada De Serviço Aérea Em Baixa Tensão - Agrupamentos E Edificações De Uso Coletivo Com Demanda Até 95 kVA</a:t>
            </a:r>
            <a:r>
              <a:rPr lang="en-US" sz="2000"/>
              <a:t> (CEMIG)</a:t>
            </a:r>
            <a:endParaRPr sz="2000"/>
          </a:p>
        </p:txBody>
      </p:sp>
      <p:sp>
        <p:nvSpPr>
          <p:cNvPr id="129190088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1161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A6B99C5-E01C-B69A-C2FF-4E46E04363B7}" type="slidenum">
              <a:rPr lang="en-US"/>
              <a:t/>
            </a:fld>
            <a:endParaRPr lang="en-US"/>
          </a:p>
        </p:txBody>
      </p:sp>
      <p:pic>
        <p:nvPicPr>
          <p:cNvPr id="2870658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262" y="1284733"/>
            <a:ext cx="9087132" cy="55472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231989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pt-BR" sz="20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 Elementos Componentes Da Entrada De Serviço Subterrânea Em Baixa Tensão - Edificações De Uso Coletivo Com Demanda Entre 95 E Até 304KVA</a:t>
            </a:r>
            <a:r>
              <a:rPr lang="en-US" sz="2000"/>
              <a:t> (CEMIG)</a:t>
            </a:r>
            <a:endParaRPr sz="2000"/>
          </a:p>
        </p:txBody>
      </p:sp>
      <p:sp>
        <p:nvSpPr>
          <p:cNvPr id="31053363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9256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7051D2C-65F9-23BF-561A-5D05DE623B8A}" type="slidenum">
              <a:rPr lang="en-US"/>
              <a:t/>
            </a:fld>
            <a:endParaRPr lang="en-US"/>
          </a:p>
        </p:txBody>
      </p:sp>
      <p:pic>
        <p:nvPicPr>
          <p:cNvPr id="8424635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4" y="1440000"/>
            <a:ext cx="9142871" cy="52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077175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pt-BR" sz="20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Dimensionamento Da Entrada De Serviço De Edificações De Uso Coletivo Atendidas Por Redes De Distribuição Secundárias Trifásicas (127/220V) </a:t>
            </a:r>
            <a:r>
              <a:rPr lang="en-US" sz="20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br>
              <a:rPr lang="en-US" sz="20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</a:br>
            <a:r>
              <a:rPr lang="pt-BR" sz="20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Ramal De Conexão Aéreo E Proteção Geral Com Disjuntor</a:t>
            </a:r>
            <a:r>
              <a:rPr lang="en-US" sz="20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 (CEMIG)</a:t>
            </a:r>
            <a:endParaRPr sz="2000"/>
          </a:p>
        </p:txBody>
      </p:sp>
      <p:sp>
        <p:nvSpPr>
          <p:cNvPr id="2162809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7769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2263C5E-50DF-F751-62EA-BF2146955815}" type="slidenum">
              <a:rPr lang="en-US"/>
              <a:t/>
            </a:fld>
            <a:endParaRPr lang="en-US"/>
          </a:p>
        </p:txBody>
      </p:sp>
      <p:pic>
        <p:nvPicPr>
          <p:cNvPr id="101722575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13246" y="1025184"/>
            <a:ext cx="8714753" cy="5634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0965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521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56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5A0DF3-B98F-6597-BD8F-6E15F4D9B036}" type="slidenum">
              <a:rPr lang="en-US"/>
              <a:t/>
            </a:fld>
            <a:endParaRPr lang="en-US"/>
          </a:p>
        </p:txBody>
      </p:sp>
      <p:pic>
        <p:nvPicPr>
          <p:cNvPr id="8995233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74475" y="1458578"/>
            <a:ext cx="1470443" cy="5201421"/>
          </a:xfrm>
          <a:prstGeom prst="rect">
            <a:avLst/>
          </a:prstGeom>
        </p:spPr>
      </p:pic>
      <p:pic>
        <p:nvPicPr>
          <p:cNvPr id="117515680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839251" y="1458578"/>
            <a:ext cx="5190447" cy="52343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noFill/>
        <a:ln w="25400" cap="flat" cmpd="sng" algn="ctr">
          <a:solidFill>
            <a:srgbClr val="C00000"/>
          </a:solidFill>
          <a:prstDash val="solid"/>
          <a:miter lim="800000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noFill/>
        <a:ln w="25400" cap="flat" cmpd="sng" algn="ctr">
          <a:solidFill>
            <a:srgbClr val="C00000"/>
          </a:solidFill>
          <a:prstDash val="solid"/>
          <a:miter lim="800000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</cp:revision>
  <dcterms:modified xsi:type="dcterms:W3CDTF">2026-01-28T19:32:26Z</dcterms:modified>
</cp:coreProperties>
</file>