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2" d="100"/>
          <a:sy n="92" d="100"/>
        </p:scale>
        <p:origin x="618" y="90"/>
      </p:cViewPr>
      <p:guideLst>
        <p:guide pos="288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Relationship Id="rId31" Type="http://schemas.onlyoffice.com/jsaProject" Target="jsaProject.bin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5089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728318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1/7/2026</a:t>
            </a:fld>
            <a:endParaRPr lang="en-US"/>
          </a:p>
        </p:txBody>
      </p:sp>
      <p:sp>
        <p:nvSpPr>
          <p:cNvPr id="166540031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6028548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920811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7635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7938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941150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0075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5978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87879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399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AEEE61-DF99-F093-BCDF-0EB05C729A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97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7123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73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C543E7-CD16-7CC8-A3CE-2C3B29BA3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663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138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583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253B3B-6CB3-FE19-0E6C-5F022EB150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9712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8234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663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9C1103-B047-5DF9-C9AF-0AF64B57C1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3363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11201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64390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2F92E3-B12C-020B-BD2B-BCAD6C6A8F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230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0913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1854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12C5AC-CEF1-4E0F-F8D6-092E20C3AD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299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6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699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B86CB6-285C-E4DC-5D58-EC940F06C4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002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740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252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7BA7A8-18C0-8471-3A62-5C5EFBE993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6919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36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185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ECA5BB-AD7F-48D3-3144-E99D2D42CC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070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8398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7981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A69B73-0ADF-738F-4831-4AA65BD521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950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0391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205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6FB4C9-95A7-8D28-7372-38A90BCA57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750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4919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627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1CC4FE-AC7C-8A60-5E6B-4915725D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554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34563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7752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C40AC3-4D86-DD92-7FA1-877D7DA618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051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452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073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423A49-610C-065F-80AD-6F3FA31745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285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3990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17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077093-06EF-E417-1B19-C45CCFCFD4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82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0856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452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32014-0BF3-0FE0-40EC-DB17961A17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098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4752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790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45669B-A567-7163-A7D8-B23F159062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308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290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77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508E19-56FD-504C-FE96-A0B674E036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441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481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119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DF3C39-D0BE-5D82-3B98-40BD8FF5A1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265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9282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8274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291226-BCC9-D644-BFC3-4838A1090F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682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0538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10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3B794D-C92D-EFCA-9A8E-85F21A8992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804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3771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49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EB5EE6-9BB9-E31C-E96D-F66A0C5986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088603" name="Title 1"/>
          <p:cNvSpPr>
            <a:spLocks noGrp="1"/>
          </p:cNvSpPr>
          <p:nvPr>
            <p:ph type="ctrTitle"/>
          </p:nvPr>
        </p:nvSpPr>
        <p:spPr bwMode="auto">
          <a:xfrm>
            <a:off x="288000" y="1123200"/>
            <a:ext cx="8640000" cy="2386800"/>
          </a:xfrm>
        </p:spPr>
        <p:txBody>
          <a:bodyPr anchor="b"/>
          <a:lstStyle>
            <a:lvl1pPr algn="l">
              <a:defRPr lang="pt-BR" sz="36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82972241" name="Subtitle 2"/>
          <p:cNvSpPr>
            <a:spLocks noGrp="1"/>
          </p:cNvSpPr>
          <p:nvPr>
            <p:ph type="subTitle" idx="1"/>
          </p:nvPr>
        </p:nvSpPr>
        <p:spPr bwMode="auto">
          <a:xfrm>
            <a:off x="288000" y="3602037"/>
            <a:ext cx="8640000" cy="3119436"/>
          </a:xfrm>
        </p:spPr>
        <p:txBody>
          <a:bodyPr/>
          <a:lstStyle>
            <a:lvl1pPr marL="0" indent="0" algn="l">
              <a:buNone/>
              <a:defRPr lang="pt-BR" sz="2400">
                <a:latin typeface="Arial"/>
                <a:ea typeface="Arial"/>
                <a:cs typeface="Arial"/>
              </a:defRPr>
            </a:lvl1pPr>
            <a:lvl2pPr marL="457200" indent="0" algn="l">
              <a:buNone/>
              <a:defRPr lang="pt-BR" sz="2000">
                <a:latin typeface="Arial"/>
                <a:ea typeface="Arial"/>
                <a:cs typeface="Arial"/>
              </a:defRPr>
            </a:lvl2pPr>
            <a:lvl3pPr marL="914400" indent="0" algn="l">
              <a:buNone/>
              <a:defRPr lang="pt-BR" sz="1800">
                <a:latin typeface="Arial"/>
                <a:ea typeface="Arial"/>
                <a:cs typeface="Arial"/>
              </a:defRPr>
            </a:lvl3pPr>
            <a:lvl4pPr marL="1371600" indent="0" algn="l">
              <a:buNone/>
              <a:defRPr lang="pt-BR" sz="1600">
                <a:latin typeface="Arial"/>
                <a:ea typeface="Arial"/>
                <a:cs typeface="Arial"/>
              </a:defRPr>
            </a:lvl4pPr>
            <a:lvl5pPr marL="1828800" indent="0" algn="l">
              <a:buNone/>
              <a:defRPr lang="pt-BR" sz="1600">
                <a:latin typeface="Arial"/>
                <a:ea typeface="Arial"/>
                <a:cs typeface="Arial"/>
              </a:defRPr>
            </a:lvl5pPr>
            <a:lvl6pPr marL="2286000" indent="0" algn="l">
              <a:buNone/>
              <a:defRPr lang="pt-BR" sz="1600">
                <a:latin typeface="Arial"/>
                <a:ea typeface="Arial"/>
                <a:cs typeface="Arial"/>
              </a:defRPr>
            </a:lvl6pPr>
            <a:lvl7pPr marL="2743200" indent="0" algn="l">
              <a:buNone/>
              <a:defRPr lang="pt-BR" sz="1600">
                <a:latin typeface="Arial"/>
                <a:ea typeface="Arial"/>
                <a:cs typeface="Arial"/>
              </a:defRPr>
            </a:lvl7pPr>
            <a:lvl8pPr marL="3200400" indent="0" algn="l">
              <a:buNone/>
              <a:defRPr lang="pt-BR" sz="1600">
                <a:latin typeface="Arial"/>
                <a:ea typeface="Arial"/>
                <a:cs typeface="Arial"/>
              </a:defRPr>
            </a:lvl8pPr>
            <a:lvl9pPr marL="3657600" indent="0" algn="l">
              <a:buNone/>
              <a:defRPr lang="pt-BR" sz="1600"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63501754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>
            <a:lvl1pPr>
              <a:defRPr lang="pt-BR"/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14989266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>
            <a:lvl1pPr>
              <a:defRPr lang="pt-BR"/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8645362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lang="pt-BR">
                <a:solidFill>
                  <a:schemeClr val="tx2"/>
                </a:solidFill>
              </a:defRPr>
            </a:lvl1pPr>
            <a:lvl2pPr>
              <a:defRPr lang="pt-BR"/>
            </a:lvl2pPr>
            <a:lvl3pPr>
              <a:defRPr lang="pt-BR"/>
            </a:lvl3pPr>
            <a:lvl4pPr>
              <a:defRPr lang="pt-BR"/>
            </a:lvl4pPr>
            <a:lvl5pPr>
              <a:defRPr lang="pt-BR"/>
            </a:lvl5pPr>
            <a:lvl6pPr>
              <a:defRPr lang="pt-BR"/>
            </a:lvl6pPr>
            <a:lvl7pPr>
              <a:defRPr lang="pt-BR"/>
            </a:lvl7pPr>
            <a:lvl8pPr>
              <a:defRPr lang="pt-BR"/>
            </a:lvl8pPr>
            <a:lvl9pPr>
              <a:defRPr lang="pt-BR"/>
            </a:lvl9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7685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613659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1171475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207433354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0515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304024" name="Title 1"/>
          <p:cNvSpPr>
            <a:spLocks noGrp="1"/>
          </p:cNvSpPr>
          <p:nvPr>
            <p:ph type="title"/>
          </p:nvPr>
        </p:nvSpPr>
        <p:spPr bwMode="auto"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06575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7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7995837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70443161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13216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4686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5712977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9857415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49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9661806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281008014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58120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453378" name="Title 1"/>
          <p:cNvSpPr>
            <a:spLocks noGrp="1"/>
          </p:cNvSpPr>
          <p:nvPr>
            <p:ph type="title"/>
          </p:nvPr>
        </p:nvSpPr>
        <p:spPr bwMode="auto">
          <a:xfrm>
            <a:off x="629841" y="365125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338587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3736510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1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089853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49" y="1681163"/>
            <a:ext cx="38873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76730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49" y="2505074"/>
            <a:ext cx="388739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72680865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469139287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4841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793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19018636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67031580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02280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249640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742809118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017989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219958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9609748" name="Content Placeholder 2"/>
          <p:cNvSpPr>
            <a:spLocks noGrp="1"/>
          </p:cNvSpPr>
          <p:nvPr>
            <p:ph idx="1"/>
          </p:nvPr>
        </p:nvSpPr>
        <p:spPr bwMode="auto">
          <a:xfrm>
            <a:off x="3887390" y="987425"/>
            <a:ext cx="462914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502321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4864736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4504058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02932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821405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224843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887390" y="987425"/>
            <a:ext cx="462914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868959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2139014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91420906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13967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4448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0023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9702875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37410794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80892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7385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3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4994335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3998726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28650" y="6356349"/>
            <a:ext cx="20574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1/7/2026</a:t>
            </a:fld>
            <a:endParaRPr lang="en-US"/>
          </a:p>
        </p:txBody>
      </p:sp>
      <p:sp>
        <p:nvSpPr>
          <p:cNvPr id="119176236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56349"/>
            <a:ext cx="30861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45656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606761" name="Title Placeholder 1"/>
          <p:cNvSpPr>
            <a:spLocks noGrp="1"/>
          </p:cNvSpPr>
          <p:nvPr>
            <p:ph type="title"/>
          </p:nvPr>
        </p:nvSpPr>
        <p:spPr bwMode="auto">
          <a:xfrm>
            <a:off x="288000" y="288179"/>
            <a:ext cx="8640720" cy="652627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>
            <a:lvl1pPr>
              <a:lnSpc>
                <a:spcPct val="100000"/>
              </a:lnSpc>
              <a:defRPr lang="pt-BR" sz="320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2pPr>
            <a:lvl3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3pPr>
            <a:lvl4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4pPr>
            <a:lvl5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5pPr>
            <a:lvl6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6pPr>
            <a:lvl7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7pPr>
            <a:lvl8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8pPr>
            <a:lvl9pPr>
              <a:lnSpc>
                <a:spcPct val="114999"/>
              </a:lnSpc>
              <a:defRPr lang="pt-BR" sz="3600"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939176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8000" y="1440000"/>
            <a:ext cx="8640000" cy="5220000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Autofit/>
          </a:bodyPr>
          <a:lstStyle>
            <a:lvl1pPr>
              <a:lnSpc>
                <a:spcPct val="114999"/>
              </a:lnSpc>
              <a:spcBef>
                <a:spcPts val="3400"/>
              </a:spcBef>
              <a:defRPr lang="pt-BR" sz="2200">
                <a:latin typeface="Arial"/>
                <a:ea typeface="Arial"/>
                <a:cs typeface="Arial"/>
              </a:defRPr>
            </a:lvl1pPr>
            <a:lvl2pPr>
              <a:lnSpc>
                <a:spcPct val="114999"/>
              </a:lnSpc>
              <a:spcBef>
                <a:spcPts val="565"/>
              </a:spcBef>
              <a:defRPr lang="pt-BR" sz="2000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14999"/>
              </a:lnSpc>
              <a:spcBef>
                <a:spcPts val="565"/>
              </a:spcBef>
              <a:defRPr lang="pt-BR" sz="2000">
                <a:solidFill>
                  <a:srgbClr val="00B050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14999"/>
              </a:lnSpc>
              <a:spcBef>
                <a:spcPts val="565"/>
              </a:spcBef>
              <a:defRPr lang="pt-BR" sz="200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14999"/>
              </a:lnSpc>
              <a:spcBef>
                <a:spcPts val="565"/>
              </a:spcBef>
              <a:defRPr lang="pt-BR" sz="2000">
                <a:solidFill>
                  <a:srgbClr val="7030A0"/>
                </a:solidFill>
                <a:latin typeface="Arial"/>
                <a:ea typeface="Arial"/>
                <a:cs typeface="Arial"/>
              </a:defRPr>
            </a:lvl5pPr>
            <a:lvl6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6pPr>
            <a:lvl7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7pPr>
            <a:lvl8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8pPr>
            <a:lvl9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8894288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908400" y="108000"/>
            <a:ext cx="214071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14999"/>
              </a:lnSpc>
              <a:defRPr lang="pt-BR" sz="18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2pPr>
            <a:lvl3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3pPr>
            <a:lvl4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4pPr>
            <a:lvl5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5pPr>
            <a:lvl6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6pPr>
            <a:lvl7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7pPr>
            <a:lvl8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8pPr>
            <a:lvl9pPr>
              <a:lnSpc>
                <a:spcPct val="114999"/>
              </a:lnSpc>
              <a:defRPr lang="pt-BR"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281361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 algn="l">
              <a:defRPr/>
            </a:pPr>
            <a:r>
              <a:rPr lang="pt-BR" sz="36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Conceitos básicos de eletricidade</a:t>
            </a:r>
            <a:endParaRPr/>
          </a:p>
        </p:txBody>
      </p:sp>
      <p:sp>
        <p:nvSpPr>
          <p:cNvPr id="1924560824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algn="l">
              <a:spcBef>
                <a:spcPts val="1417"/>
              </a:spcBef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Instalações Elétricas de Baixa Tensão</a:t>
            </a:r>
            <a:endParaRPr/>
          </a:p>
          <a:p>
            <a:pPr algn="l">
              <a:spcBef>
                <a:spcPts val="4251"/>
              </a:spcBef>
              <a:defRPr/>
            </a:pPr>
            <a:r>
              <a:rPr lang="pt-BR" sz="1800"/>
              <a:t>Eduardo Furlan Miranda</a:t>
            </a:r>
            <a:endParaRPr lang="pt-BR" sz="2000"/>
          </a:p>
          <a:p>
            <a:pPr algn="l">
              <a:spcBef>
                <a:spcPts val="0"/>
              </a:spcBef>
              <a:defRPr/>
            </a:pPr>
            <a:r>
              <a:rPr lang="pt-BR" sz="1800"/>
              <a:t>2026-02-01</a:t>
            </a:r>
            <a:endParaRPr sz="2000"/>
          </a:p>
          <a:p>
            <a:pPr algn="r">
              <a:spcBef>
                <a:spcPts val="5669"/>
              </a:spcBef>
              <a:defRPr/>
            </a:pPr>
            <a:r>
              <a:rPr lang="pt-BR" sz="1800"/>
              <a:t>Baseado em: </a:t>
            </a:r>
            <a:r>
              <a:rPr lang="pt-B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NUNES, B. M. </a:t>
            </a:r>
            <a:r>
              <a:rPr lang="pt-BR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Instalações elétricas de baixa tensão</a:t>
            </a:r>
            <a:r>
              <a:rPr lang="pt-BR" sz="1800"/>
              <a:t>.</a:t>
            </a:r>
            <a:endParaRPr sz="2000"/>
          </a:p>
          <a:p>
            <a:pPr algn="r">
              <a:spcBef>
                <a:spcPts val="0"/>
              </a:spcBef>
              <a:defRPr/>
            </a:pPr>
            <a:r>
              <a:rPr lang="pt-B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Londrina: EDE SA, 2019. ISBN 978-85-522-1412-0</a:t>
            </a:r>
            <a:r>
              <a:rPr lang="pt-BR" sz="1800"/>
              <a:t>.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934080" name="PlaceHolder 1"/>
          <p:cNvSpPr>
            <a:spLocks noGrp="1"/>
          </p:cNvSpPr>
          <p:nvPr>
            <p:ph type="title"/>
          </p:nvPr>
        </p:nvSpPr>
        <p:spPr bwMode="auto">
          <a:xfrm>
            <a:off x="326550" y="261268"/>
            <a:ext cx="8653966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Geração de energia elétrica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523953583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114999"/>
              </a:lnSpc>
              <a:spcBef>
                <a:spcPts val="3968"/>
              </a:spcBef>
              <a:buNone/>
              <a:defRPr/>
            </a:pP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169544353" name="" descr=""/>
          <p:cNvPicPr/>
          <p:nvPr/>
        </p:nvPicPr>
        <p:blipFill rotWithShape="1">
          <a:blip r:embed="rId3"/>
          <a:stretch/>
        </p:blipFill>
        <p:spPr bwMode="auto">
          <a:xfrm>
            <a:off x="1216729" y="1004250"/>
            <a:ext cx="6362196" cy="569075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2144317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DE251DFB-C6B3-DF6C-8A34-6EF8A544D4F7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418341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Átomo (do elemento estrôncio)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93764628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114999"/>
              </a:lnSpc>
              <a:spcBef>
                <a:spcPts val="3968"/>
              </a:spcBef>
              <a:buNone/>
              <a:defRPr/>
            </a:pP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89135831" name="" descr=""/>
          <p:cNvPicPr/>
          <p:nvPr/>
        </p:nvPicPr>
        <p:blipFill rotWithShape="1">
          <a:blip r:embed="rId3"/>
          <a:srcRect l="0" t="7727" r="0" b="0"/>
          <a:stretch/>
        </p:blipFill>
        <p:spPr bwMode="auto">
          <a:xfrm>
            <a:off x="326550" y="1029397"/>
            <a:ext cx="8653606" cy="3412163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5598139" name="" descr=""/>
          <p:cNvPicPr/>
          <p:nvPr/>
        </p:nvPicPr>
        <p:blipFill rotWithShape="1">
          <a:blip r:embed="rId4"/>
          <a:srcRect l="0" t="25244" r="0" b="22569"/>
          <a:stretch/>
        </p:blipFill>
        <p:spPr bwMode="auto">
          <a:xfrm>
            <a:off x="326550" y="4870042"/>
            <a:ext cx="8653606" cy="182495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9057091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5BC09FFF-92A1-DD77-E979-DD9944F526B5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529295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Átomo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884571637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114999"/>
              </a:lnSpc>
              <a:spcBef>
                <a:spcPts val="3968"/>
              </a:spcBef>
              <a:buNone/>
              <a:defRPr/>
            </a:pP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03704567" name="" descr=""/>
          <p:cNvPicPr/>
          <p:nvPr/>
        </p:nvPicPr>
        <p:blipFill rotWithShape="1">
          <a:blip r:embed="rId3"/>
          <a:stretch/>
        </p:blipFill>
        <p:spPr bwMode="auto">
          <a:xfrm>
            <a:off x="512685" y="1923914"/>
            <a:ext cx="2932101" cy="26943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3095998" name=""/>
          <p:cNvSpPr txBox="1"/>
          <p:nvPr/>
        </p:nvSpPr>
        <p:spPr bwMode="auto">
          <a:xfrm>
            <a:off x="560034" y="5072524"/>
            <a:ext cx="2720203" cy="69995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Modelo de Bohr / Rutherford  (1913)</a:t>
            </a:r>
            <a:endParaRPr sz="2000" b="0" u="none" strike="noStrike">
              <a:solidFill>
                <a:srgbClr val="76003B"/>
              </a:solidFill>
              <a:latin typeface="Arial"/>
              <a:cs typeface="Arial"/>
            </a:endParaRPr>
          </a:p>
        </p:txBody>
      </p:sp>
      <p:pic>
        <p:nvPicPr>
          <p:cNvPr id="2005822559" name="" descr=""/>
          <p:cNvPicPr/>
          <p:nvPr/>
        </p:nvPicPr>
        <p:blipFill rotWithShape="1">
          <a:blip r:embed="rId4"/>
          <a:stretch/>
        </p:blipFill>
        <p:spPr bwMode="auto">
          <a:xfrm>
            <a:off x="5055012" y="349446"/>
            <a:ext cx="3184200" cy="245102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7717030" name=""/>
          <p:cNvSpPr txBox="1"/>
          <p:nvPr/>
        </p:nvSpPr>
        <p:spPr bwMode="auto">
          <a:xfrm flipH="0" flipV="0">
            <a:off x="3839886" y="3456252"/>
            <a:ext cx="5141349" cy="281628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Modelo de Schrödinger (1926)</a:t>
            </a:r>
            <a:endParaRPr sz="2000" b="0" u="none" strike="noStrike">
              <a:solidFill>
                <a:srgbClr val="76003B"/>
              </a:solidFill>
              <a:latin typeface="Arial"/>
              <a:cs typeface="Arial"/>
            </a:endParaRPr>
          </a:p>
          <a:p>
            <a:pPr marL="216000" indent="-216000">
              <a:spcBef>
                <a:spcPts val="566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Elétrons têm comportamento tanto de partículas quanto de </a:t>
            </a:r>
            <a:r>
              <a:rPr lang="pt-BR" sz="2000" b="1" u="none" strike="noStrike">
                <a:solidFill>
                  <a:srgbClr val="0000FF"/>
                </a:solidFill>
                <a:latin typeface="Arial"/>
                <a:ea typeface="Arial"/>
                <a:cs typeface="Arial"/>
              </a:rPr>
              <a:t>ondas</a:t>
            </a:r>
            <a:endParaRPr sz="2000" b="0" u="none" strike="noStrike">
              <a:solidFill>
                <a:srgbClr val="76003B"/>
              </a:solidFill>
              <a:latin typeface="Arial"/>
              <a:cs typeface="Arial"/>
            </a:endParaRPr>
          </a:p>
          <a:p>
            <a:pPr marL="216000" indent="-216000">
              <a:spcBef>
                <a:spcPts val="566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Não seguem trajetórias definidas</a:t>
            </a:r>
            <a:endParaRPr sz="2000" b="0" u="none" strike="noStrike">
              <a:solidFill>
                <a:srgbClr val="76003B"/>
              </a:solidFill>
              <a:latin typeface="Arial"/>
              <a:cs typeface="Arial"/>
            </a:endParaRPr>
          </a:p>
          <a:p>
            <a:pPr marL="216000" indent="-216000">
              <a:spcBef>
                <a:spcPts val="566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Existem em </a:t>
            </a:r>
            <a:r>
              <a:rPr lang="pt-BR"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regiões de probabilidade</a:t>
            </a: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 chamadas de “</a:t>
            </a:r>
            <a:r>
              <a:rPr lang="pt-BR"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orbitais</a:t>
            </a: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”</a:t>
            </a:r>
            <a:endParaRPr sz="2000" b="0" u="none" strike="noStrike">
              <a:solidFill>
                <a:srgbClr val="76003B"/>
              </a:solidFill>
              <a:latin typeface="Arial"/>
              <a:cs typeface="Arial"/>
            </a:endParaRPr>
          </a:p>
          <a:p>
            <a:pPr marL="216000" indent="-216000">
              <a:spcBef>
                <a:spcPts val="566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A representação é complexa e não existe uma imagem simples</a:t>
            </a:r>
            <a:endParaRPr sz="2000" b="0" u="none" strike="noStrike">
              <a:solidFill>
                <a:srgbClr val="76003B"/>
              </a:solidFill>
              <a:latin typeface="Arial"/>
              <a:cs typeface="Arial"/>
            </a:endParaRPr>
          </a:p>
        </p:txBody>
      </p:sp>
      <p:sp>
        <p:nvSpPr>
          <p:cNvPr id="1439413250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ED929A99-417C-BA05-B305-2A46638F684F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98916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Carga elétrica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270184317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Propriedade física da partícula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Ocorre em “pacotes” (e ≈ 1,6×10</a:t>
            </a:r>
            <a:r>
              <a:rPr lang="pt-BR" sz="2200" b="0" u="none" strike="noStrike" baseline="30000">
                <a:solidFill>
                  <a:srgbClr val="4B0082"/>
                </a:solidFill>
                <a:latin typeface="Arial"/>
                <a:ea typeface="Arial"/>
                <a:cs typeface="Arial"/>
              </a:rPr>
              <a:t>−19</a:t>
            </a: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 Coulomb (C) )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FF0000"/>
                </a:solidFill>
                <a:latin typeface="Arial"/>
                <a:ea typeface="Arial"/>
                <a:cs typeface="Arial"/>
              </a:rPr>
              <a:t>Cargas: </a:t>
            </a: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 sinais iguais se repelem, e sinais opostos se atraem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Núcleo: nêutrons sem </a:t>
            </a:r>
            <a:r>
              <a:rPr lang="pt-BR" sz="2400" b="0" u="none" strike="noStrike">
                <a:solidFill>
                  <a:srgbClr val="FF0000"/>
                </a:solidFill>
                <a:latin typeface="Arial"/>
                <a:ea typeface="Arial"/>
                <a:cs typeface="Arial"/>
              </a:rPr>
              <a:t>carga,</a:t>
            </a: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 e prótons com </a:t>
            </a:r>
            <a:r>
              <a:rPr lang="pt-BR" sz="2400" b="0" u="none" strike="noStrike">
                <a:solidFill>
                  <a:srgbClr val="FF0000"/>
                </a:solidFill>
                <a:latin typeface="Arial"/>
                <a:ea typeface="Arial"/>
                <a:cs typeface="Arial"/>
              </a:rPr>
              <a:t>carga</a:t>
            </a: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 positiva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Elétrons: </a:t>
            </a:r>
            <a:r>
              <a:rPr lang="pt-BR" sz="2400" b="0" u="none" strike="noStrike">
                <a:solidFill>
                  <a:srgbClr val="FF0000"/>
                </a:solidFill>
                <a:latin typeface="Arial"/>
                <a:ea typeface="Arial"/>
                <a:cs typeface="Arial"/>
              </a:rPr>
              <a:t>carga</a:t>
            </a: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 negativa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92042597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77B9D9D2-D0EF-B0A7-D9BE-78D93573677C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319657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Energia elétrica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320210264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5000" lnSpcReduction="1000"/>
          </a:bodyPr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Visão Clássica - Modelo de Drude (1900)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A energia é vista como o fluxo de cargas </a:t>
            </a:r>
            <a:r>
              <a:rPr lang="pt-BR" sz="2200" b="0" u="none" strike="noStrike">
                <a:solidFill>
                  <a:srgbClr val="FF00FF"/>
                </a:solidFill>
                <a:latin typeface="Arial"/>
                <a:ea typeface="Arial"/>
                <a:cs typeface="Arial"/>
              </a:rPr>
              <a:t>dentro do fio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O movimento ordenado das </a:t>
            </a:r>
            <a:r>
              <a:rPr lang="pt-BR" sz="2200" b="0" u="none" strike="noStrike">
                <a:solidFill>
                  <a:srgbClr val="7F00FE"/>
                </a:solidFill>
                <a:latin typeface="Arial"/>
                <a:ea typeface="Arial"/>
                <a:cs typeface="Arial"/>
              </a:rPr>
              <a:t>cargas</a:t>
            </a: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 (deriva), impulsionado pelo </a:t>
            </a:r>
            <a:r>
              <a:rPr lang="pt-BR" sz="2200" b="0" u="none" strike="noStrike">
                <a:solidFill>
                  <a:srgbClr val="00B000"/>
                </a:solidFill>
                <a:latin typeface="Arial"/>
                <a:ea typeface="Arial"/>
                <a:cs typeface="Arial"/>
              </a:rPr>
              <a:t>campo</a:t>
            </a: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 elétrico (empurrão), constitui a </a:t>
            </a:r>
            <a:r>
              <a:rPr lang="pt-BR" sz="2200" b="0" u="none" strike="noStrike">
                <a:solidFill>
                  <a:srgbClr val="FF0000"/>
                </a:solidFill>
                <a:latin typeface="Arial"/>
                <a:ea typeface="Arial"/>
                <a:cs typeface="Arial"/>
              </a:rPr>
              <a:t>corrente elétrica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Se encaixa bem na Lei de Ohm e simplifica fenômenos complexos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Teoria do Vetor de Poynting (1883)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A energia viaja principalmente através de campos elétricos (E) e magnéticos (B) no </a:t>
            </a:r>
            <a:r>
              <a:rPr lang="pt-BR" sz="2200" b="0" u="none" strike="noStrike">
                <a:solidFill>
                  <a:srgbClr val="FF00FF"/>
                </a:solidFill>
                <a:latin typeface="Arial"/>
                <a:ea typeface="Arial"/>
                <a:cs typeface="Arial"/>
              </a:rPr>
              <a:t>espaço ao redor do fio (isolante/ar)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A energia em torno do fio é entregue aos elétrons do receptor (meio intermediário) para que os campos realizem o trabalho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</p:txBody>
      </p:sp>
      <p:sp>
        <p:nvSpPr>
          <p:cNvPr id="964125656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C4B80BB0-20DE-BE9E-605D-B12943148216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846740" name="Title 1"/>
          <p:cNvSpPr>
            <a:spLocks noGrp="1"/>
          </p:cNvSpPr>
          <p:nvPr>
            <p:ph type="title"/>
          </p:nvPr>
        </p:nvSpPr>
        <p:spPr bwMode="auto">
          <a:xfrm>
            <a:off x="288000" y="328532"/>
            <a:ext cx="8648279" cy="579479"/>
          </a:xfrm>
        </p:spPr>
        <p:txBody>
          <a:bodyPr/>
          <a:lstStyle/>
          <a:p>
            <a:pPr>
              <a:defRPr/>
            </a:pPr>
            <a:r>
              <a:rPr/>
              <a:t>Energia elétrica</a:t>
            </a:r>
            <a:endParaRPr/>
          </a:p>
        </p:txBody>
      </p:sp>
      <p:sp>
        <p:nvSpPr>
          <p:cNvPr id="16308577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0102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2D19C0C-DFB1-98A2-F565-714909FA8669}" type="slidenum">
              <a:rPr lang="en-US"/>
              <a:t/>
            </a:fld>
            <a:endParaRPr lang="en-US"/>
          </a:p>
        </p:txBody>
      </p:sp>
      <p:pic>
        <p:nvPicPr>
          <p:cNvPr id="2057370683" name=""/>
          <p:cNvPicPr>
            <a:picLocks noChangeAspect="1"/>
          </p:cNvPicPr>
          <p:nvPr/>
        </p:nvPicPr>
        <p:blipFill rotWithShape="1">
          <a:blip r:embed="rId3"/>
          <a:srcRect l="16361" t="3365" r="17930" b="2048"/>
          <a:stretch/>
        </p:blipFill>
        <p:spPr bwMode="auto">
          <a:xfrm flipH="0" flipV="0">
            <a:off x="4471959" y="6914"/>
            <a:ext cx="4690882" cy="6752599"/>
          </a:xfrm>
          <a:prstGeom prst="rect">
            <a:avLst/>
          </a:prstGeom>
        </p:spPr>
      </p:pic>
      <p:pic>
        <p:nvPicPr>
          <p:cNvPr id="174517829" name=""/>
          <p:cNvPicPr>
            <a:picLocks noChangeAspect="1"/>
          </p:cNvPicPr>
          <p:nvPr/>
        </p:nvPicPr>
        <p:blipFill rotWithShape="1">
          <a:blip r:embed="rId4"/>
          <a:srcRect l="9606" t="8504" r="14235" b="9001"/>
          <a:stretch/>
        </p:blipFill>
        <p:spPr bwMode="auto">
          <a:xfrm flipH="0" flipV="0">
            <a:off x="186268" y="2814850"/>
            <a:ext cx="4046329" cy="39446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019604" name="Title 1"/>
          <p:cNvSpPr>
            <a:spLocks noGrp="1"/>
          </p:cNvSpPr>
          <p:nvPr>
            <p:ph type="title"/>
          </p:nvPr>
        </p:nvSpPr>
        <p:spPr bwMode="auto">
          <a:xfrm>
            <a:off x="288000" y="328532"/>
            <a:ext cx="8648279" cy="579479"/>
          </a:xfrm>
        </p:spPr>
        <p:txBody>
          <a:bodyPr/>
          <a:lstStyle/>
          <a:p>
            <a:pPr>
              <a:defRPr/>
            </a:pPr>
            <a:r>
              <a:rPr/>
              <a:t>Energia elétrica</a:t>
            </a:r>
            <a:endParaRPr/>
          </a:p>
        </p:txBody>
      </p:sp>
      <p:sp>
        <p:nvSpPr>
          <p:cNvPr id="19267693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290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A35E237-CCA4-8EFD-2785-1E79E7223FB2}" type="slidenum">
              <a:rPr lang="en-US"/>
              <a:t/>
            </a:fld>
            <a:endParaRPr lang="en-US"/>
          </a:p>
        </p:txBody>
      </p:sp>
      <p:pic>
        <p:nvPicPr>
          <p:cNvPr id="14559940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4753" y="1440000"/>
            <a:ext cx="8974356" cy="5232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359112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Campo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995325572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114999"/>
              </a:lnSpc>
              <a:spcBef>
                <a:spcPts val="3968"/>
              </a:spcBef>
              <a:buNone/>
              <a:defRPr/>
            </a:pP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342179383" name="" descr=""/>
          <p:cNvPicPr/>
          <p:nvPr/>
        </p:nvPicPr>
        <p:blipFill rotWithShape="1">
          <a:blip r:embed="rId3"/>
          <a:stretch/>
        </p:blipFill>
        <p:spPr bwMode="auto">
          <a:xfrm>
            <a:off x="0" y="2577085"/>
            <a:ext cx="5537327" cy="4281208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591979" name="" descr=""/>
          <p:cNvPicPr/>
          <p:nvPr/>
        </p:nvPicPr>
        <p:blipFill rotWithShape="1">
          <a:blip r:embed="rId4"/>
          <a:srcRect l="3522" t="9180" r="3424" b="25575"/>
          <a:stretch/>
        </p:blipFill>
        <p:spPr bwMode="auto">
          <a:xfrm>
            <a:off x="2462195" y="198890"/>
            <a:ext cx="5978825" cy="229393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739244" name=""/>
          <p:cNvSpPr txBox="1"/>
          <p:nvPr/>
        </p:nvSpPr>
        <p:spPr bwMode="auto">
          <a:xfrm>
            <a:off x="6267169" y="3425880"/>
            <a:ext cx="2659791" cy="130955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Energia elétrica é um fenômeno do espectro eletromagnético</a:t>
            </a:r>
            <a:endParaRPr sz="2000" b="0" u="none" strike="noStrike">
              <a:solidFill>
                <a:srgbClr val="76003B"/>
              </a:solidFill>
              <a:latin typeface="Arial"/>
              <a:cs typeface="Arial"/>
            </a:endParaRPr>
          </a:p>
        </p:txBody>
      </p:sp>
      <p:sp>
        <p:nvSpPr>
          <p:cNvPr id="222368493" name=""/>
          <p:cNvSpPr txBox="1"/>
          <p:nvPr/>
        </p:nvSpPr>
        <p:spPr bwMode="auto">
          <a:xfrm>
            <a:off x="137803" y="6316488"/>
            <a:ext cx="2151351" cy="39515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Onda no espaço</a:t>
            </a:r>
            <a:endParaRPr sz="2000" b="0" u="none" strike="noStrike">
              <a:solidFill>
                <a:srgbClr val="76003B"/>
              </a:solidFill>
              <a:latin typeface="Arial"/>
              <a:cs typeface="Arial"/>
            </a:endParaRPr>
          </a:p>
        </p:txBody>
      </p:sp>
      <p:sp>
        <p:nvSpPr>
          <p:cNvPr id="743568064" name=""/>
          <p:cNvSpPr txBox="1"/>
          <p:nvPr/>
        </p:nvSpPr>
        <p:spPr bwMode="auto">
          <a:xfrm>
            <a:off x="0" y="2258663"/>
            <a:ext cx="1324458" cy="699959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“Corrente</a:t>
            </a:r>
            <a:br>
              <a:rPr sz="2000">
                <a:latin typeface="Arial"/>
                <a:ea typeface="Arial"/>
                <a:cs typeface="Arial"/>
              </a:rPr>
            </a:b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alternada”</a:t>
            </a:r>
            <a:endParaRPr sz="2000" b="0" u="none" strike="noStrike">
              <a:solidFill>
                <a:srgbClr val="76003B"/>
              </a:solidFill>
              <a:latin typeface="Arial"/>
              <a:cs typeface="Arial"/>
            </a:endParaRPr>
          </a:p>
        </p:txBody>
      </p:sp>
      <p:sp>
        <p:nvSpPr>
          <p:cNvPr id="282303516" name=""/>
          <p:cNvSpPr txBox="1"/>
          <p:nvPr/>
        </p:nvSpPr>
        <p:spPr bwMode="auto">
          <a:xfrm>
            <a:off x="5537327" y="5912175"/>
            <a:ext cx="3443188" cy="69995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76003B"/>
                </a:solidFill>
                <a:latin typeface="Arial"/>
                <a:ea typeface="Arial"/>
                <a:cs typeface="Arial"/>
              </a:rPr>
              <a:t>Propagação no eixo Z (imaginar como sendo o fio)</a:t>
            </a:r>
            <a:endParaRPr sz="2000" b="0" u="none" strike="noStrike">
              <a:solidFill>
                <a:srgbClr val="76003B"/>
              </a:solidFill>
              <a:latin typeface="Arial"/>
              <a:cs typeface="Arial"/>
            </a:endParaRPr>
          </a:p>
        </p:txBody>
      </p:sp>
      <p:sp>
        <p:nvSpPr>
          <p:cNvPr id="1031116798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D5CCAF44-F06E-D98C-6A18-FCAFA4B2A370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911500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Corrente e tensão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943873764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114999"/>
              </a:lnSpc>
              <a:spcBef>
                <a:spcPts val="3968"/>
              </a:spcBef>
              <a:buNone/>
              <a:defRPr/>
            </a:pP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366110630" name="" descr=""/>
          <p:cNvPicPr/>
          <p:nvPr/>
        </p:nvPicPr>
        <p:blipFill rotWithShape="1">
          <a:blip r:embed="rId3"/>
          <a:stretch/>
        </p:blipFill>
        <p:spPr bwMode="auto">
          <a:xfrm>
            <a:off x="52574" y="1121820"/>
            <a:ext cx="9090858" cy="569434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6619618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B2EFFBD1-3913-3F78-2D41-09095001DFC2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994094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Geração da corrente elétrica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472100496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Condição básica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Para gerar corrente, é necessária uma Diferença De Potencial (DDP) entre as extremidades do condutor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Mecanismos de causa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Conversão química (Pilhas e baterias)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Conversão eletromecânica (Geradores/usinas)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  <a:p>
            <a:pPr marL="720000" lvl="2" indent="-288000">
              <a:lnSpc>
                <a:spcPct val="114999"/>
              </a:lnSpc>
              <a:spcBef>
                <a:spcPts val="1133"/>
              </a:spcBef>
              <a:buClr>
                <a:srgbClr val="0064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rgbClr val="006400"/>
                </a:solidFill>
                <a:latin typeface="Arial"/>
                <a:ea typeface="Arial"/>
                <a:cs typeface="Arial"/>
              </a:rPr>
              <a:t>Indução Eletromagnética</a:t>
            </a:r>
            <a:endParaRPr sz="2000" b="0" u="none" strike="noStrike">
              <a:solidFill>
                <a:srgbClr val="006400"/>
              </a:solidFill>
              <a:latin typeface="Arial"/>
              <a:cs typeface="Arial"/>
            </a:endParaRPr>
          </a:p>
          <a:p>
            <a:pPr marL="936000" lvl="3" indent="-288000">
              <a:lnSpc>
                <a:spcPct val="114999"/>
              </a:lnSpc>
              <a:spcBef>
                <a:spcPts val="1416"/>
              </a:spcBef>
              <a:buClr>
                <a:srgbClr val="B22222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rgbClr val="B22222"/>
                </a:solidFill>
                <a:latin typeface="Arial"/>
                <a:ea typeface="Arial"/>
                <a:cs typeface="Arial"/>
              </a:rPr>
              <a:t>Ao passar um condutor por um campo magnético, a força de Lorentz gera a DDP necessária para o fluxo de cargas (“corrente elétrica”)</a:t>
            </a:r>
            <a:endParaRPr sz="2000" b="0" u="none" strike="noStrike">
              <a:solidFill>
                <a:srgbClr val="B22222"/>
              </a:solidFill>
              <a:latin typeface="Arial"/>
              <a:cs typeface="Arial"/>
            </a:endParaRPr>
          </a:p>
        </p:txBody>
      </p:sp>
      <p:sp>
        <p:nvSpPr>
          <p:cNvPr id="1116765132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8C78FB6D-15D5-2AB4-19BC-AD71861B65CA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70828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Resistência elétrica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2017623884" name="PlaceHolder 2"/>
          <p:cNvSpPr>
            <a:spLocks noGrp="1"/>
          </p:cNvSpPr>
          <p:nvPr>
            <p:ph/>
          </p:nvPr>
        </p:nvSpPr>
        <p:spPr bwMode="auto">
          <a:xfrm>
            <a:off x="326550" y="3286756"/>
            <a:ext cx="8653606" cy="34082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114999"/>
              </a:lnSpc>
              <a:spcBef>
                <a:spcPts val="1416"/>
              </a:spcBef>
              <a:buNone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 = resistência (Ohms,  Ω)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indent="0">
              <a:lnSpc>
                <a:spcPct val="114999"/>
              </a:lnSpc>
              <a:spcBef>
                <a:spcPts val="1416"/>
              </a:spcBef>
              <a:buNone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 = corrente (Ampères)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indent="0">
              <a:lnSpc>
                <a:spcPct val="114999"/>
              </a:lnSpc>
              <a:spcBef>
                <a:spcPts val="1416"/>
              </a:spcBef>
              <a:buNone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 = comprimento (metros)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indent="0">
              <a:lnSpc>
                <a:spcPct val="114999"/>
              </a:lnSpc>
              <a:spcBef>
                <a:spcPts val="1416"/>
              </a:spcBef>
              <a:buNone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 = área da seção (m</a:t>
            </a:r>
            <a:r>
              <a:rPr lang="pt-BR" sz="2400" b="0" u="none" strike="noStrike" baseline="3000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indent="0">
              <a:lnSpc>
                <a:spcPct val="114999"/>
              </a:lnSpc>
              <a:spcBef>
                <a:spcPts val="1416"/>
              </a:spcBef>
              <a:buNone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 = resitividade do material (Ohms x metro, Ωm)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44459862" name="" descr=""/>
          <p:cNvPicPr/>
          <p:nvPr/>
        </p:nvPicPr>
        <p:blipFill rotWithShape="1">
          <a:blip r:embed="rId3"/>
          <a:stretch/>
        </p:blipFill>
        <p:spPr bwMode="auto">
          <a:xfrm>
            <a:off x="352675" y="1481718"/>
            <a:ext cx="1580507" cy="12351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4761874" name="" descr=""/>
          <p:cNvPicPr/>
          <p:nvPr/>
        </p:nvPicPr>
        <p:blipFill rotWithShape="1">
          <a:blip r:embed="rId4"/>
          <a:stretch/>
        </p:blipFill>
        <p:spPr bwMode="auto">
          <a:xfrm>
            <a:off x="6896760" y="663294"/>
            <a:ext cx="1943632" cy="1943836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8184273" name="" descr=""/>
          <p:cNvPicPr/>
          <p:nvPr/>
        </p:nvPicPr>
        <p:blipFill rotWithShape="1">
          <a:blip r:embed="rId5"/>
          <a:stretch/>
        </p:blipFill>
        <p:spPr bwMode="auto">
          <a:xfrm>
            <a:off x="6626049" y="2710659"/>
            <a:ext cx="2237528" cy="1676036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5381441" name="" descr=""/>
          <p:cNvPicPr/>
          <p:nvPr/>
        </p:nvPicPr>
        <p:blipFill rotWithShape="1">
          <a:blip r:embed="rId6"/>
          <a:stretch/>
        </p:blipFill>
        <p:spPr bwMode="auto">
          <a:xfrm>
            <a:off x="6841573" y="4486304"/>
            <a:ext cx="2138583" cy="1423259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3544708" name="" descr=""/>
          <p:cNvPicPr/>
          <p:nvPr/>
        </p:nvPicPr>
        <p:blipFill rotWithShape="1">
          <a:blip r:embed="rId7"/>
          <a:stretch/>
        </p:blipFill>
        <p:spPr bwMode="auto">
          <a:xfrm>
            <a:off x="4142954" y="1408236"/>
            <a:ext cx="2297940" cy="163292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9998454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DE3C8D94-5BEA-F9DB-DC6C-83C1AA97D17A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642032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Capacitor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021136329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5968375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/>
              <a:t>Armazena energia elétrica acumulando cargas elétricas em duas superfícies (ou dois fios elétricos) isoladas entre si</a:t>
            </a:r>
            <a:endParaRPr/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/>
              <a:t>Os condutores mantêm cargas iguais e opostas em suas superfícies, e o dielétrico desenvolve um campo elétrico</a:t>
            </a:r>
            <a:endParaRPr/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/>
              <a:t>Unidade de medida: Farad (F)</a:t>
            </a:r>
            <a:endParaRPr/>
          </a:p>
        </p:txBody>
      </p:sp>
      <p:pic>
        <p:nvPicPr>
          <p:cNvPr id="287615119" name="" descr=""/>
          <p:cNvPicPr/>
          <p:nvPr/>
        </p:nvPicPr>
        <p:blipFill rotWithShape="1">
          <a:blip r:embed="rId3"/>
          <a:stretch/>
        </p:blipFill>
        <p:spPr bwMode="auto">
          <a:xfrm>
            <a:off x="6372971" y="584914"/>
            <a:ext cx="2607184" cy="174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4095258" name="" descr=""/>
          <p:cNvPicPr/>
          <p:nvPr/>
        </p:nvPicPr>
        <p:blipFill rotWithShape="1">
          <a:blip r:embed="rId4"/>
          <a:stretch/>
        </p:blipFill>
        <p:spPr bwMode="auto">
          <a:xfrm>
            <a:off x="6418363" y="2818432"/>
            <a:ext cx="2561793" cy="1779237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836155" name="" descr=""/>
          <p:cNvPicPr/>
          <p:nvPr/>
        </p:nvPicPr>
        <p:blipFill rotWithShape="1">
          <a:blip r:embed="rId5"/>
          <a:stretch/>
        </p:blipFill>
        <p:spPr bwMode="auto">
          <a:xfrm>
            <a:off x="6189777" y="5189115"/>
            <a:ext cx="2790379" cy="134781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6964293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F8C402DE-E6F7-A244-F6CC-FF83E56D307A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573303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Indutor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620939564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5906657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Armazena energia em um campo magnético quando uma corrente elétrica flui através dele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Gera campos magnéticos em motores, transformadores, fontes, etc.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Unidade de medida: Henry (H)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754192865" name="" descr=""/>
          <p:cNvPicPr/>
          <p:nvPr/>
        </p:nvPicPr>
        <p:blipFill rotWithShape="1">
          <a:blip r:embed="rId3"/>
          <a:stretch/>
        </p:blipFill>
        <p:spPr bwMode="auto">
          <a:xfrm>
            <a:off x="6387341" y="446442"/>
            <a:ext cx="2592816" cy="2299161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3572738" name="" descr=""/>
          <p:cNvPicPr/>
          <p:nvPr/>
        </p:nvPicPr>
        <p:blipFill rotWithShape="1">
          <a:blip r:embed="rId4"/>
          <a:srcRect l="0" t="0" r="29039" b="10462"/>
          <a:stretch/>
        </p:blipFill>
        <p:spPr bwMode="auto">
          <a:xfrm>
            <a:off x="6470938" y="4920663"/>
            <a:ext cx="2509219" cy="1937631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827425" name="" descr=""/>
          <p:cNvPicPr/>
          <p:nvPr/>
        </p:nvPicPr>
        <p:blipFill rotWithShape="1">
          <a:blip r:embed="rId5"/>
          <a:srcRect l="4410" t="0" r="7268" b="0"/>
          <a:stretch/>
        </p:blipFill>
        <p:spPr bwMode="auto">
          <a:xfrm>
            <a:off x="6387341" y="2792632"/>
            <a:ext cx="2560814" cy="21280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2352210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C5298108-D03F-209A-123B-8F413CE4C945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69941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Lei de Ohm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596679593" name="PlaceHolder 2"/>
          <p:cNvSpPr>
            <a:spLocks noGrp="1"/>
          </p:cNvSpPr>
          <p:nvPr>
            <p:ph/>
          </p:nvPr>
        </p:nvSpPr>
        <p:spPr bwMode="auto">
          <a:xfrm>
            <a:off x="326550" y="2545733"/>
            <a:ext cx="5106607" cy="41492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Uma geladeira tem resistência (dos fios elétricos do motor) de 20 Ω, e tensão de 127 V . Calcule a corrente consumida.</a:t>
            </a:r>
            <a:br>
              <a:rPr sz="2400">
                <a:latin typeface="Arial"/>
                <a:ea typeface="Arial"/>
                <a:cs typeface="Arial"/>
              </a:rPr>
            </a:br>
            <a:br>
              <a:rPr sz="2400">
                <a:latin typeface="Arial"/>
                <a:ea typeface="Arial"/>
                <a:cs typeface="Arial"/>
              </a:rPr>
            </a:b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V = R . I</a:t>
            </a:r>
            <a:br>
              <a:rPr sz="2400">
                <a:latin typeface="Arial"/>
                <a:ea typeface="Arial"/>
                <a:cs typeface="Arial"/>
              </a:rPr>
            </a:b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127 = 20 . I</a:t>
            </a:r>
            <a:br>
              <a:rPr sz="2400">
                <a:latin typeface="Arial"/>
                <a:ea typeface="Arial"/>
                <a:cs typeface="Arial"/>
              </a:rPr>
            </a:b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I = 127 / 20 = 6,35 A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19345667" name=""/>
          <p:cNvSpPr txBox="1"/>
          <p:nvPr/>
        </p:nvSpPr>
        <p:spPr bwMode="auto">
          <a:xfrm>
            <a:off x="3625696" y="914438"/>
            <a:ext cx="2654240" cy="79139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4999"/>
              </a:lnSpc>
              <a:spcBef>
                <a:spcPts val="3968"/>
              </a:spcBef>
              <a:defRPr/>
            </a:pPr>
            <a:r>
              <a:rPr lang="pt-BR" sz="4000" b="0" u="none" strike="noStrike">
                <a:solidFill>
                  <a:srgbClr val="800000"/>
                </a:solidFill>
                <a:latin typeface="Arial"/>
                <a:ea typeface="Arial"/>
                <a:cs typeface="Arial"/>
              </a:rPr>
              <a:t>V = R . I</a:t>
            </a:r>
            <a:endParaRPr sz="4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pic>
        <p:nvPicPr>
          <p:cNvPr id="570210533" name="" descr=""/>
          <p:cNvPicPr/>
          <p:nvPr/>
        </p:nvPicPr>
        <p:blipFill rotWithShape="1">
          <a:blip r:embed="rId3"/>
          <a:stretch/>
        </p:blipFill>
        <p:spPr bwMode="auto">
          <a:xfrm>
            <a:off x="5619619" y="2545733"/>
            <a:ext cx="3360538" cy="328708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1928782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DC5421CE-E004-0884-08CD-C505F58604E8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900300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Associação série e paralelo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619561499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114999"/>
              </a:lnSpc>
              <a:spcBef>
                <a:spcPts val="3968"/>
              </a:spcBef>
              <a:buNone/>
              <a:defRPr/>
            </a:pP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Mesma corrente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288000" indent="0">
              <a:lnSpc>
                <a:spcPct val="114999"/>
              </a:lnSpc>
              <a:spcBef>
                <a:spcPts val="3968"/>
              </a:spcBef>
              <a:buNone/>
              <a:defRPr/>
            </a:pPr>
            <a:br>
              <a:rPr sz="2400">
                <a:latin typeface="Arial"/>
                <a:ea typeface="Arial"/>
                <a:cs typeface="Arial"/>
              </a:rPr>
            </a:br>
            <a:br>
              <a:rPr sz="2400">
                <a:latin typeface="Arial"/>
                <a:ea typeface="Arial"/>
                <a:cs typeface="Arial"/>
              </a:rPr>
            </a:br>
            <a:br>
              <a:rPr sz="2400">
                <a:latin typeface="Arial"/>
                <a:ea typeface="Arial"/>
                <a:cs typeface="Arial"/>
              </a:rPr>
            </a:b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Mesma tensão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926126683" name="" descr=""/>
          <p:cNvPicPr/>
          <p:nvPr/>
        </p:nvPicPr>
        <p:blipFill rotWithShape="1">
          <a:blip r:embed="rId3"/>
          <a:stretch/>
        </p:blipFill>
        <p:spPr bwMode="auto">
          <a:xfrm>
            <a:off x="4419870" y="1151540"/>
            <a:ext cx="4444034" cy="2668529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3656881" name="" descr=""/>
          <p:cNvPicPr/>
          <p:nvPr/>
        </p:nvPicPr>
        <p:blipFill rotWithShape="1">
          <a:blip r:embed="rId4"/>
          <a:srcRect l="0" t="0" r="0" b="11099"/>
          <a:stretch/>
        </p:blipFill>
        <p:spPr bwMode="auto">
          <a:xfrm>
            <a:off x="3718764" y="4068275"/>
            <a:ext cx="5261392" cy="262672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5523654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35FBCB2E-AC4A-E744-2BA8-B2F050DD0443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214938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Potência e energia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841971913" name="PlaceHolder 2"/>
          <p:cNvSpPr>
            <a:spLocks noGrp="1"/>
          </p:cNvSpPr>
          <p:nvPr>
            <p:ph/>
          </p:nvPr>
        </p:nvSpPr>
        <p:spPr bwMode="auto">
          <a:xfrm>
            <a:off x="326550" y="2509482"/>
            <a:ext cx="8653606" cy="41855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Unidade de medida de energia: Joule (J)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Joule aplicado durante um certo tempo = Watts (W)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Equação combinada com a Lei de Ohm:</a:t>
            </a:r>
            <a:br>
              <a:rPr sz="2400">
                <a:latin typeface="Arial"/>
                <a:ea typeface="Arial"/>
                <a:cs typeface="Arial"/>
              </a:rPr>
            </a:b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61204700" name=""/>
          <p:cNvSpPr txBox="1"/>
          <p:nvPr/>
        </p:nvSpPr>
        <p:spPr bwMode="auto">
          <a:xfrm flipH="0" flipV="0">
            <a:off x="2276082" y="1312872"/>
            <a:ext cx="4885936" cy="69995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/>
            </a:pPr>
            <a:r>
              <a:rPr lang="pt-BR" sz="4000" b="0" u="none" strike="noStrike">
                <a:solidFill>
                  <a:srgbClr val="800000"/>
                </a:solidFill>
                <a:latin typeface="Arial"/>
                <a:ea typeface="Arial"/>
                <a:cs typeface="Arial"/>
              </a:rPr>
              <a:t>P = V . I  [Watts, W]</a:t>
            </a:r>
            <a:endParaRPr sz="4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2077479136" name=""/>
          <p:cNvSpPr txBox="1"/>
          <p:nvPr/>
        </p:nvSpPr>
        <p:spPr bwMode="auto">
          <a:xfrm flipH="0" flipV="0">
            <a:off x="5815731" y="5251758"/>
            <a:ext cx="1820872" cy="1443242"/>
          </a:xfrm>
          <a:prstGeom prst="rect">
            <a:avLst/>
          </a:prstGeom>
        </p:spPr>
        <p:txBody>
          <a:bodyPr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3600"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/>
                        <a:rPr sz="3600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sz="3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3600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sz="36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p>
                              <m:r>
                                <m:rPr/>
                                <a:rPr sz="36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/>
                            <a:rPr sz="3600"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sz="3600">
              <a:latin typeface="Arial"/>
              <a:cs typeface="Arial"/>
            </a:endParaRPr>
          </a:p>
        </p:txBody>
      </p:sp>
      <p:sp>
        <p:nvSpPr>
          <p:cNvPr id="853502837" name=""/>
          <p:cNvSpPr txBox="1"/>
          <p:nvPr/>
        </p:nvSpPr>
        <p:spPr bwMode="auto">
          <a:xfrm flipH="0" flipV="0">
            <a:off x="1642282" y="5544441"/>
            <a:ext cx="2190462" cy="1080409"/>
          </a:xfrm>
          <a:prstGeom prst="rect">
            <a:avLst/>
          </a:prstGeom>
        </p:spPr>
        <p:txBody>
          <a:bodyPr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3600"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/>
                        <a:rPr sz="3600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/>
                        <a:rPr sz="3600"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/>
                        <a:rPr sz="3600"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p>
                        <m:sSupPr>
                          <m:ctrlPr>
                            <a:rPr sz="3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sz="3600"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p>
                          <m:r>
                            <m:rPr/>
                            <a:rPr sz="3600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sz="3600">
              <a:latin typeface="Arial"/>
              <a:cs typeface="Arial"/>
            </a:endParaRPr>
          </a:p>
        </p:txBody>
      </p:sp>
      <p:sp>
        <p:nvSpPr>
          <p:cNvPr id="1926358313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EA0B4292-7C1E-AFCE-289D-7C61F0521B4E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371988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Ex.: calcule a corrente total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525935600" name="PlaceHolder 2"/>
          <p:cNvSpPr>
            <a:spLocks noGrp="1"/>
          </p:cNvSpPr>
          <p:nvPr>
            <p:ph/>
          </p:nvPr>
        </p:nvSpPr>
        <p:spPr bwMode="auto">
          <a:xfrm>
            <a:off x="326550" y="4486631"/>
            <a:ext cx="8653606" cy="2208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114999"/>
              </a:lnSpc>
              <a:spcBef>
                <a:spcPts val="3968"/>
              </a:spcBef>
              <a:buNone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 = V . I  ⇒  60 = 120 . I  ⇒  I = 60/120 = 0,5 [A]</a:t>
            </a:r>
            <a:br>
              <a:rPr sz="2400">
                <a:latin typeface="Arial"/>
                <a:ea typeface="Arial"/>
                <a:cs typeface="Arial"/>
              </a:rPr>
            </a:br>
            <a:br>
              <a:rPr sz="2400">
                <a:latin typeface="Arial"/>
                <a:ea typeface="Arial"/>
                <a:cs typeface="Arial"/>
              </a:rPr>
            </a:b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I</a:t>
            </a:r>
            <a:r>
              <a:rPr lang="pt-BR" sz="2400" b="0" u="none" strike="noStrike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</a:t>
            </a: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 = 10 x 0,5 = 5 [A]</a:t>
            </a:r>
            <a:br>
              <a:rPr sz="2400">
                <a:latin typeface="Arial"/>
                <a:ea typeface="Arial"/>
                <a:cs typeface="Arial"/>
              </a:rPr>
            </a:br>
            <a:br>
              <a:rPr sz="2400">
                <a:latin typeface="Arial"/>
                <a:ea typeface="Arial"/>
                <a:cs typeface="Arial"/>
              </a:rPr>
            </a:b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</a:t>
            </a:r>
            <a:r>
              <a:rPr lang="pt-BR" sz="2400" b="0" u="none" strike="noStrike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</a:t>
            </a: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 = V . </a:t>
            </a: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I</a:t>
            </a:r>
            <a:r>
              <a:rPr lang="pt-BR" sz="2400" b="0" u="none" strike="noStrike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</a:t>
            </a: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  = 120 x 5 = 600 [W]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646410205" name="" descr=""/>
          <p:cNvPicPr/>
          <p:nvPr/>
        </p:nvPicPr>
        <p:blipFill rotWithShape="1">
          <a:blip r:embed="rId3"/>
          <a:stretch/>
        </p:blipFill>
        <p:spPr bwMode="auto">
          <a:xfrm>
            <a:off x="326550" y="1047359"/>
            <a:ext cx="6832103" cy="274037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2520858" name=""/>
          <p:cNvSpPr txBox="1"/>
          <p:nvPr/>
        </p:nvSpPr>
        <p:spPr bwMode="auto">
          <a:xfrm>
            <a:off x="7477041" y="1768783"/>
            <a:ext cx="1320605" cy="130955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800000"/>
                </a:solidFill>
                <a:latin typeface="Arial"/>
                <a:ea typeface="Arial"/>
                <a:cs typeface="Arial"/>
              </a:rPr>
              <a:t>10 lâmpadas no total (600 W)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176851709" name=""/>
          <p:cNvSpPr/>
          <p:nvPr/>
        </p:nvSpPr>
        <p:spPr bwMode="auto">
          <a:xfrm>
            <a:off x="7045014" y="1213264"/>
            <a:ext cx="1827706" cy="0"/>
          </a:xfrm>
          <a:prstGeom prst="line">
            <a:avLst/>
          </a:prstGeom>
          <a:ln w="72000">
            <a:solidFill>
              <a:srgbClr val="000000"/>
            </a:solidFill>
            <a:prstDash val="dash"/>
            <a:round/>
            <a:tailEnd type="triangle" w="med" len="med"/>
          </a:ln>
        </p:spPr>
        <p:style>
          <a:lnRef idx="0"/>
          <a:fillRef idx="0"/>
          <a:effectRef idx="0"/>
          <a:fontRef idx="minor"/>
        </p:style>
        <p:txBody>
          <a:bodyPr lIns="126000" tIns="-81000" rIns="126000" bIns="-81000" anchor="ctr">
            <a:noAutofit/>
          </a:bodyPr>
          <a:p>
            <a:pPr>
              <a:defRPr/>
            </a:pPr>
            <a:endParaRPr sz="2000" b="0" u="none" strike="noStrike">
              <a:solidFill>
                <a:srgbClr val="BABABA"/>
              </a:solidFill>
              <a:latin typeface="Arial"/>
              <a:cs typeface="Arial"/>
            </a:endParaRPr>
          </a:p>
        </p:txBody>
      </p:sp>
      <p:sp>
        <p:nvSpPr>
          <p:cNvPr id="115130515" name=""/>
          <p:cNvSpPr/>
          <p:nvPr/>
        </p:nvSpPr>
        <p:spPr bwMode="auto">
          <a:xfrm>
            <a:off x="6629641" y="3639468"/>
            <a:ext cx="2243079" cy="0"/>
          </a:xfrm>
          <a:prstGeom prst="line">
            <a:avLst/>
          </a:prstGeom>
          <a:ln w="72000">
            <a:solidFill>
              <a:srgbClr val="000000"/>
            </a:solidFill>
            <a:prstDash val="dash"/>
            <a:round/>
            <a:tailEnd type="triangle" w="med" len="med"/>
          </a:ln>
        </p:spPr>
        <p:style>
          <a:lnRef idx="0"/>
          <a:fillRef idx="0"/>
          <a:effectRef idx="0"/>
          <a:fontRef idx="minor"/>
        </p:style>
        <p:txBody>
          <a:bodyPr lIns="126000" tIns="-81000" rIns="126000" bIns="-81000" anchor="ctr">
            <a:noAutofit/>
          </a:bodyPr>
          <a:p>
            <a:pPr>
              <a:defRPr/>
            </a:pPr>
            <a:endParaRPr sz="2000" b="0" u="none" strike="noStrike">
              <a:solidFill>
                <a:srgbClr val="BABABA"/>
              </a:solidFill>
              <a:latin typeface="Arial"/>
              <a:cs typeface="Arial"/>
            </a:endParaRPr>
          </a:p>
        </p:txBody>
      </p:sp>
      <p:sp>
        <p:nvSpPr>
          <p:cNvPr id="341753455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6B401D63-16CE-AEFC-B475-482B327DD827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188228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Ex.: calcule a energia consumida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081280633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 lâmpada ligadas por 3 horas</a:t>
            </a:r>
            <a:br>
              <a:rPr sz="2400">
                <a:latin typeface="Arial"/>
                <a:ea typeface="Arial"/>
                <a:cs typeface="Arial"/>
              </a:rPr>
            </a:br>
            <a:br>
              <a:rPr sz="2400">
                <a:latin typeface="Arial"/>
                <a:ea typeface="Arial"/>
                <a:cs typeface="Arial"/>
              </a:rPr>
            </a:b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 = P x t  =  60 x 3 = 180 Wh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59377222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CBF8DF68-C809-6135-3960-1DF88307CDC2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  <p:pic>
        <p:nvPicPr>
          <p:cNvPr id="5319300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44253" y="3639402"/>
            <a:ext cx="3562349" cy="2600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68822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Triangulo de potência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pic>
        <p:nvPicPr>
          <p:cNvPr id="748895084" name="" descr=""/>
          <p:cNvPicPr/>
          <p:nvPr/>
        </p:nvPicPr>
        <p:blipFill rotWithShape="1">
          <a:blip r:embed="rId3"/>
          <a:stretch/>
        </p:blipFill>
        <p:spPr bwMode="auto">
          <a:xfrm>
            <a:off x="1046269" y="1573162"/>
            <a:ext cx="5848858" cy="334358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2759404" name=""/>
          <p:cNvSpPr txBox="1"/>
          <p:nvPr/>
        </p:nvSpPr>
        <p:spPr bwMode="auto">
          <a:xfrm>
            <a:off x="7077996" y="2912161"/>
            <a:ext cx="1902519" cy="1198679"/>
          </a:xfrm>
          <a:prstGeom prst="rect">
            <a:avLst/>
          </a:prstGeom>
          <a:noFill/>
          <a:ln w="72000">
            <a:noFill/>
          </a:ln>
        </p:spPr>
        <p:txBody>
          <a:bodyPr lIns="126000" tIns="81000" rIns="126000" bIns="81000" anchor="t">
            <a:spAutoFit/>
          </a:bodyPr>
          <a:p>
            <a:pPr>
              <a:defRPr/>
            </a:pPr>
            <a:r>
              <a:rPr lang="pt-BR" sz="2800" b="0" u="none" strike="noStrike">
                <a:solidFill>
                  <a:srgbClr val="0000FF"/>
                </a:solidFill>
                <a:latin typeface="Arial"/>
                <a:ea typeface="Arial"/>
                <a:cs typeface="Arial"/>
              </a:rPr>
              <a:t>Q</a:t>
            </a:r>
            <a:br>
              <a:rPr sz="2000">
                <a:latin typeface="Arial"/>
                <a:ea typeface="Arial"/>
                <a:cs typeface="Arial"/>
              </a:rPr>
            </a:br>
            <a:r>
              <a:rPr lang="pt-BR" sz="2000" b="0" u="none" strike="noStrike">
                <a:solidFill>
                  <a:srgbClr val="0000FF"/>
                </a:solidFill>
                <a:latin typeface="Arial"/>
                <a:ea typeface="Arial"/>
                <a:cs typeface="Arial"/>
              </a:rPr>
              <a:t>Volt-Ampère Reativo (VAr)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1929704067" name=""/>
          <p:cNvSpPr txBox="1"/>
          <p:nvPr/>
        </p:nvSpPr>
        <p:spPr bwMode="auto">
          <a:xfrm>
            <a:off x="4286962" y="4573828"/>
            <a:ext cx="2110532" cy="893879"/>
          </a:xfrm>
          <a:prstGeom prst="rect">
            <a:avLst/>
          </a:prstGeom>
          <a:noFill/>
          <a:ln w="72000">
            <a:noFill/>
          </a:ln>
        </p:spPr>
        <p:txBody>
          <a:bodyPr lIns="126000" tIns="81000" rIns="126000" bIns="81000" anchor="t">
            <a:spAutoFit/>
          </a:bodyPr>
          <a:p>
            <a:pPr>
              <a:defRPr/>
            </a:pPr>
            <a:r>
              <a:rPr lang="pt-BR" sz="2800" b="0" u="none" strike="noStrike">
                <a:solidFill>
                  <a:srgbClr val="00B000"/>
                </a:solidFill>
                <a:latin typeface="Arial"/>
                <a:ea typeface="Arial"/>
                <a:cs typeface="Arial"/>
              </a:rPr>
              <a:t>P</a:t>
            </a:r>
            <a:br>
              <a:rPr sz="2000">
                <a:latin typeface="Arial"/>
                <a:ea typeface="Arial"/>
                <a:cs typeface="Arial"/>
              </a:rPr>
            </a:br>
            <a:r>
              <a:rPr lang="pt-BR" sz="2000" b="0" u="none" strike="noStrike">
                <a:solidFill>
                  <a:srgbClr val="00B000"/>
                </a:solidFill>
                <a:latin typeface="Arial"/>
                <a:ea typeface="Arial"/>
                <a:cs typeface="Arial"/>
              </a:rPr>
              <a:t>Watts (W)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928206608" name=""/>
          <p:cNvSpPr txBox="1"/>
          <p:nvPr/>
        </p:nvSpPr>
        <p:spPr bwMode="auto">
          <a:xfrm>
            <a:off x="1213137" y="2048016"/>
            <a:ext cx="2127186" cy="1198679"/>
          </a:xfrm>
          <a:prstGeom prst="rect">
            <a:avLst/>
          </a:prstGeom>
          <a:noFill/>
          <a:ln w="72000">
            <a:noFill/>
          </a:ln>
        </p:spPr>
        <p:txBody>
          <a:bodyPr lIns="126000" tIns="81000" rIns="126000" bIns="81000" anchor="t">
            <a:spAutoFit/>
          </a:bodyPr>
          <a:p>
            <a:pPr>
              <a:defRPr/>
            </a:pPr>
            <a:r>
              <a:rPr lang="pt-BR" sz="2800" b="0" u="none" strike="noStrike">
                <a:solidFill>
                  <a:srgbClr val="FE7F00"/>
                </a:solidFill>
                <a:latin typeface="Arial"/>
                <a:ea typeface="Arial"/>
                <a:cs typeface="Arial"/>
              </a:rPr>
              <a:t>S</a:t>
            </a:r>
            <a:br>
              <a:rPr sz="2000">
                <a:latin typeface="Arial"/>
                <a:ea typeface="Arial"/>
                <a:cs typeface="Arial"/>
              </a:rPr>
            </a:br>
            <a:r>
              <a:rPr lang="pt-BR" sz="2000" b="0" u="none" strike="noStrike">
                <a:solidFill>
                  <a:srgbClr val="FE7F00"/>
                </a:solidFill>
                <a:latin typeface="Arial"/>
                <a:ea typeface="Arial"/>
                <a:cs typeface="Arial"/>
              </a:rPr>
              <a:t>Volt-Ampère (VA)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1503043379" name=""/>
          <p:cNvSpPr txBox="1"/>
          <p:nvPr/>
        </p:nvSpPr>
        <p:spPr bwMode="auto">
          <a:xfrm>
            <a:off x="7028361" y="5238429"/>
            <a:ext cx="1769286" cy="1076759"/>
          </a:xfrm>
          <a:prstGeom prst="rect">
            <a:avLst/>
          </a:prstGeom>
          <a:noFill/>
          <a:ln w="72000">
            <a:noFill/>
          </a:ln>
        </p:spPr>
        <p:txBody>
          <a:bodyPr lIns="126000" tIns="81000" rIns="126000" bIns="81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800000"/>
                </a:solidFill>
                <a:latin typeface="Arial"/>
                <a:ea typeface="Arial"/>
                <a:cs typeface="Arial"/>
              </a:rPr>
              <a:t>Realiza o trabalho nos aparelhos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1900967379" name=""/>
          <p:cNvSpPr/>
          <p:nvPr/>
        </p:nvSpPr>
        <p:spPr bwMode="auto">
          <a:xfrm flipH="1" flipV="1">
            <a:off x="5981764" y="5122492"/>
            <a:ext cx="946998" cy="377859"/>
          </a:xfrm>
          <a:prstGeom prst="line">
            <a:avLst/>
          </a:prstGeom>
          <a:ln w="18000">
            <a:solidFill>
              <a:srgbClr val="76003B"/>
            </a:solidFill>
            <a:round/>
            <a:tailEnd type="triangle" w="med" len="med"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>
            <a:noAutofit/>
          </a:bodyPr>
          <a:p>
            <a:pPr>
              <a:defRPr/>
            </a:pPr>
            <a:endParaRPr sz="2000" b="0" u="none" strike="noStrike">
              <a:solidFill>
                <a:srgbClr val="BABABA"/>
              </a:solidFill>
              <a:latin typeface="Arial"/>
              <a:cs typeface="Arial"/>
            </a:endParaRPr>
          </a:p>
        </p:txBody>
      </p:sp>
      <p:sp>
        <p:nvSpPr>
          <p:cNvPr id="859353948" name=""/>
          <p:cNvSpPr txBox="1"/>
          <p:nvPr/>
        </p:nvSpPr>
        <p:spPr bwMode="auto">
          <a:xfrm>
            <a:off x="7177920" y="1163296"/>
            <a:ext cx="1965870" cy="1345559"/>
          </a:xfrm>
          <a:prstGeom prst="rect">
            <a:avLst/>
          </a:prstGeom>
          <a:noFill/>
          <a:ln w="36000">
            <a:noFill/>
          </a:ln>
        </p:spPr>
        <p:txBody>
          <a:bodyPr lIns="108000" tIns="63000" rIns="108000" bIns="63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800000"/>
                </a:solidFill>
                <a:latin typeface="Arial"/>
                <a:ea typeface="Arial"/>
                <a:cs typeface="Arial"/>
              </a:rPr>
              <a:t>Gera os campos elétricos e magnéticos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444707794" name=""/>
          <p:cNvSpPr/>
          <p:nvPr/>
        </p:nvSpPr>
        <p:spPr bwMode="auto">
          <a:xfrm flipH="1">
            <a:off x="7726200" y="2309938"/>
            <a:ext cx="199522" cy="415416"/>
          </a:xfrm>
          <a:prstGeom prst="line">
            <a:avLst/>
          </a:prstGeom>
          <a:ln w="18000">
            <a:solidFill>
              <a:srgbClr val="76003B"/>
            </a:solidFill>
            <a:round/>
            <a:tailEnd type="triangle" w="med" len="med"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>
            <a:noAutofit/>
          </a:bodyPr>
          <a:p>
            <a:pPr>
              <a:defRPr/>
            </a:pPr>
            <a:endParaRPr sz="2000" b="0" u="none" strike="noStrike">
              <a:solidFill>
                <a:srgbClr val="BABABA"/>
              </a:solidFill>
              <a:latin typeface="Arial"/>
              <a:cs typeface="Arial"/>
            </a:endParaRPr>
          </a:p>
        </p:txBody>
      </p:sp>
      <p:sp>
        <p:nvSpPr>
          <p:cNvPr id="548816094" name=""/>
          <p:cNvSpPr txBox="1"/>
          <p:nvPr/>
        </p:nvSpPr>
        <p:spPr bwMode="auto">
          <a:xfrm>
            <a:off x="482314" y="5400742"/>
            <a:ext cx="3575229" cy="413159"/>
          </a:xfrm>
          <a:prstGeom prst="rect">
            <a:avLst/>
          </a:prstGeom>
          <a:noFill/>
          <a:ln w="18000">
            <a:noFill/>
          </a:ln>
        </p:spPr>
        <p:txBody>
          <a:bodyPr wrap="none" lIns="99000" tIns="54000" rIns="99000" bIns="54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800000"/>
                </a:solidFill>
                <a:latin typeface="Arial"/>
                <a:ea typeface="Arial"/>
                <a:cs typeface="Arial"/>
              </a:rPr>
              <a:t>cos φ = fator de potência (FP)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1464683165" name=""/>
          <p:cNvSpPr/>
          <p:nvPr/>
        </p:nvSpPr>
        <p:spPr bwMode="auto">
          <a:xfrm flipV="1">
            <a:off x="1329389" y="4187805"/>
            <a:ext cx="1013614" cy="1096673"/>
          </a:xfrm>
          <a:prstGeom prst="line">
            <a:avLst/>
          </a:prstGeom>
          <a:ln w="18000">
            <a:solidFill>
              <a:srgbClr val="76003B"/>
            </a:solidFill>
            <a:round/>
            <a:tailEnd type="triangle" w="med" len="med"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>
            <a:noAutofit/>
          </a:bodyPr>
          <a:p>
            <a:pPr>
              <a:defRPr/>
            </a:pPr>
            <a:endParaRPr sz="2000" b="0" u="none" strike="noStrike">
              <a:solidFill>
                <a:srgbClr val="BABABA"/>
              </a:solidFill>
              <a:latin typeface="Arial"/>
              <a:cs typeface="Arial"/>
            </a:endParaRPr>
          </a:p>
        </p:txBody>
      </p:sp>
      <p:sp>
        <p:nvSpPr>
          <p:cNvPr id="1696016804" name=""/>
          <p:cNvSpPr txBox="1"/>
          <p:nvPr/>
        </p:nvSpPr>
        <p:spPr bwMode="auto">
          <a:xfrm>
            <a:off x="2824666" y="1124759"/>
            <a:ext cx="1878028" cy="717959"/>
          </a:xfrm>
          <a:prstGeom prst="rect">
            <a:avLst/>
          </a:prstGeom>
          <a:noFill/>
          <a:ln w="18000">
            <a:noFill/>
          </a:ln>
        </p:spPr>
        <p:txBody>
          <a:bodyPr lIns="99000" tIns="54000" rIns="99000" bIns="54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800000"/>
                </a:solidFill>
                <a:latin typeface="Arial"/>
                <a:ea typeface="Arial"/>
                <a:cs typeface="Arial"/>
              </a:rPr>
              <a:t>Energia total necessária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278001425" name=""/>
          <p:cNvSpPr/>
          <p:nvPr/>
        </p:nvSpPr>
        <p:spPr bwMode="auto">
          <a:xfrm flipH="1">
            <a:off x="2625471" y="1853372"/>
            <a:ext cx="199195" cy="348793"/>
          </a:xfrm>
          <a:prstGeom prst="line">
            <a:avLst/>
          </a:prstGeom>
          <a:ln w="18000">
            <a:solidFill>
              <a:srgbClr val="76003B"/>
            </a:solidFill>
            <a:round/>
            <a:tailEnd type="triangle" w="med" len="med"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>
            <a:noAutofit/>
          </a:bodyPr>
          <a:p>
            <a:pPr>
              <a:defRPr/>
            </a:pPr>
            <a:endParaRPr sz="2000" b="0" u="none" strike="noStrike">
              <a:solidFill>
                <a:srgbClr val="BABABA"/>
              </a:solidFill>
              <a:latin typeface="Arial"/>
              <a:cs typeface="Arial"/>
            </a:endParaRPr>
          </a:p>
        </p:txBody>
      </p:sp>
      <p:sp>
        <p:nvSpPr>
          <p:cNvPr id="1408943376" name="PlaceHolder 2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D2655F01-D2FF-5BF0-2DC6-20F058D41322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080481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r>
              <a:rPr lang="pt-BR" sz="3600" b="0" u="none" strike="noStrike">
                <a:solidFill>
                  <a:srgbClr val="191970"/>
                </a:solidFill>
                <a:latin typeface="Arial"/>
                <a:ea typeface="Arial"/>
                <a:cs typeface="Arial"/>
              </a:rPr>
              <a:t>Triangulo de potência</a:t>
            </a: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pic>
        <p:nvPicPr>
          <p:cNvPr id="1280360311" name="" descr=""/>
          <p:cNvPicPr/>
          <p:nvPr/>
        </p:nvPicPr>
        <p:blipFill rotWithShape="1">
          <a:blip r:embed="rId3"/>
          <a:stretch/>
        </p:blipFill>
        <p:spPr bwMode="auto">
          <a:xfrm>
            <a:off x="1209545" y="914439"/>
            <a:ext cx="5848858" cy="3343581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0922336" name="" descr=""/>
          <p:cNvPicPr/>
          <p:nvPr/>
        </p:nvPicPr>
        <p:blipFill rotWithShape="1">
          <a:blip r:embed="rId4"/>
          <a:srcRect l="0" t="0" r="0" b="49383"/>
          <a:stretch/>
        </p:blipFill>
        <p:spPr bwMode="auto">
          <a:xfrm>
            <a:off x="2132705" y="4364161"/>
            <a:ext cx="5045542" cy="12194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4101909" name=""/>
          <p:cNvSpPr txBox="1"/>
          <p:nvPr/>
        </p:nvSpPr>
        <p:spPr bwMode="auto">
          <a:xfrm>
            <a:off x="7241270" y="2253438"/>
            <a:ext cx="1149818" cy="467159"/>
          </a:xfrm>
          <a:prstGeom prst="rect">
            <a:avLst/>
          </a:prstGeom>
          <a:noFill/>
          <a:ln w="72000">
            <a:noFill/>
          </a:ln>
        </p:spPr>
        <p:txBody>
          <a:bodyPr lIns="126000" tIns="81000" rIns="126000" bIns="81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0000FF"/>
                </a:solidFill>
                <a:latin typeface="Arial"/>
                <a:ea typeface="Arial"/>
                <a:cs typeface="Arial"/>
              </a:rPr>
              <a:t>Q (VAr)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1374443323" name=""/>
          <p:cNvSpPr txBox="1"/>
          <p:nvPr/>
        </p:nvSpPr>
        <p:spPr bwMode="auto">
          <a:xfrm>
            <a:off x="4450239" y="3915105"/>
            <a:ext cx="2110532" cy="467159"/>
          </a:xfrm>
          <a:prstGeom prst="rect">
            <a:avLst/>
          </a:prstGeom>
          <a:noFill/>
          <a:ln w="72000">
            <a:noFill/>
          </a:ln>
        </p:spPr>
        <p:txBody>
          <a:bodyPr lIns="126000" tIns="81000" rIns="126000" bIns="81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00B000"/>
                </a:solidFill>
                <a:latin typeface="Arial"/>
                <a:ea typeface="Arial"/>
                <a:cs typeface="Arial"/>
              </a:rPr>
              <a:t>P (W)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277821148" name=""/>
          <p:cNvSpPr txBox="1"/>
          <p:nvPr/>
        </p:nvSpPr>
        <p:spPr bwMode="auto">
          <a:xfrm>
            <a:off x="2389700" y="1800792"/>
            <a:ext cx="1113898" cy="467159"/>
          </a:xfrm>
          <a:prstGeom prst="rect">
            <a:avLst/>
          </a:prstGeom>
          <a:noFill/>
          <a:ln w="72000">
            <a:noFill/>
          </a:ln>
        </p:spPr>
        <p:txBody>
          <a:bodyPr lIns="126000" tIns="81000" rIns="126000" bIns="81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FE7F00"/>
                </a:solidFill>
                <a:latin typeface="Arial"/>
                <a:ea typeface="Arial"/>
                <a:cs typeface="Arial"/>
              </a:rPr>
              <a:t>S (VA)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pic>
        <p:nvPicPr>
          <p:cNvPr id="934527038" name="" descr=""/>
          <p:cNvPicPr/>
          <p:nvPr/>
        </p:nvPicPr>
        <p:blipFill rotWithShape="1">
          <a:blip r:embed="rId5"/>
          <a:srcRect l="0" t="51942" r="0" b="0"/>
          <a:stretch/>
        </p:blipFill>
        <p:spPr bwMode="auto">
          <a:xfrm>
            <a:off x="2326023" y="5583631"/>
            <a:ext cx="4852224" cy="109471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9382397" name=""/>
          <p:cNvSpPr txBox="1"/>
          <p:nvPr/>
        </p:nvSpPr>
        <p:spPr bwMode="auto">
          <a:xfrm>
            <a:off x="3503241" y="2897465"/>
            <a:ext cx="1443283" cy="413159"/>
          </a:xfrm>
          <a:prstGeom prst="rect">
            <a:avLst/>
          </a:prstGeom>
          <a:noFill/>
          <a:ln w="18000">
            <a:noFill/>
          </a:ln>
        </p:spPr>
        <p:txBody>
          <a:bodyPr wrap="none" lIns="99000" tIns="54000" rIns="99000" bIns="54000" anchor="t">
            <a:spAutoFit/>
          </a:bodyPr>
          <a:p>
            <a:pPr>
              <a:defRPr/>
            </a:pPr>
            <a:r>
              <a:rPr lang="pt-BR" sz="2000" b="0" u="none" strike="noStrike">
                <a:solidFill>
                  <a:srgbClr val="800000"/>
                </a:solidFill>
                <a:latin typeface="Arial"/>
                <a:ea typeface="Arial"/>
                <a:cs typeface="Arial"/>
              </a:rPr>
              <a:t>cos φ = FP</a:t>
            </a:r>
            <a:endParaRPr sz="2000" b="0" u="none" strike="noStrike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26601836" name="PlaceHolder 2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819B13D2-36ED-209E-18E6-C78B9CFB0E78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544970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115296093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Chuveiros e torneiras elétricas têm suas potências expressas apenas em Watts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Esses equipamentos são compostos apenas de resistência elétrica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Televisões, geladeiras, máquila de lavar, lâmpadas com reatores, entre outros, apresentam uma potência reativa associada aos indutores e capacitores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O FP do chuveiro é 1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  <a:p>
            <a:pPr marL="504000" lvl="1" indent="-288000">
              <a:lnSpc>
                <a:spcPct val="114999"/>
              </a:lnSpc>
              <a:spcBef>
                <a:spcPts val="1133"/>
              </a:spcBef>
              <a:buClr>
                <a:srgbClr val="4B0082"/>
              </a:buClr>
              <a:buSzPct val="45000"/>
              <a:buFont typeface="Wingdings"/>
              <a:buChar char=""/>
              <a:defRPr/>
            </a:pPr>
            <a:r>
              <a:rPr lang="pt-BR" sz="2200" b="0" u="none" strike="noStrike">
                <a:solidFill>
                  <a:srgbClr val="4B0082"/>
                </a:solidFill>
                <a:latin typeface="Arial"/>
                <a:ea typeface="Arial"/>
                <a:cs typeface="Arial"/>
              </a:rPr>
              <a:t>Geladeira é um valor menor que 1</a:t>
            </a:r>
            <a:endParaRPr sz="2200" b="0" u="none" strike="noStrike">
              <a:solidFill>
                <a:srgbClr val="4B0082"/>
              </a:solidFill>
              <a:latin typeface="Arial"/>
              <a:cs typeface="Arial"/>
            </a:endParaRPr>
          </a:p>
        </p:txBody>
      </p:sp>
      <p:sp>
        <p:nvSpPr>
          <p:cNvPr id="1510162673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2B871190-2C43-2281-35F3-5AF4431BC5E2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079349" name="PlaceHolder 1"/>
          <p:cNvSpPr>
            <a:spLocks noGrp="1"/>
          </p:cNvSpPr>
          <p:nvPr>
            <p:ph type="title"/>
          </p:nvPr>
        </p:nvSpPr>
        <p:spPr bwMode="auto">
          <a:xfrm>
            <a:off x="326549" y="261267"/>
            <a:ext cx="8653965" cy="5489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>
              <a:buNone/>
              <a:defRPr/>
            </a:pPr>
            <a:endParaRPr sz="3600" b="0" u="none" strike="noStrike">
              <a:solidFill>
                <a:srgbClr val="191970"/>
              </a:solidFill>
              <a:latin typeface="Arial"/>
              <a:cs typeface="Arial"/>
            </a:endParaRPr>
          </a:p>
        </p:txBody>
      </p:sp>
      <p:sp>
        <p:nvSpPr>
          <p:cNvPr id="1967937745" name="PlaceHolder 2"/>
          <p:cNvSpPr>
            <a:spLocks noGrp="1"/>
          </p:cNvSpPr>
          <p:nvPr>
            <p:ph/>
          </p:nvPr>
        </p:nvSpPr>
        <p:spPr bwMode="auto">
          <a:xfrm>
            <a:off x="326550" y="1469634"/>
            <a:ext cx="8653606" cy="52253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O FP pode ser Indutivo (atrasado) ou Capacitivo (adiantado)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  <a:p>
            <a:pPr marL="288000" indent="-288000">
              <a:lnSpc>
                <a:spcPct val="114999"/>
              </a:lnSpc>
              <a:spcBef>
                <a:spcPts val="396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 ANEEL (</a:t>
            </a: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Agencia Nacional de Energia Elétrica) cobra pelo excesso de reativo em ambos os casos, para unidades consumidoras do Grupo A (geralmente indústrias e grandes comércios)</a:t>
            </a:r>
            <a:br>
              <a:rPr sz="2400">
                <a:latin typeface="Arial"/>
                <a:ea typeface="Arial"/>
                <a:cs typeface="Arial"/>
              </a:rPr>
            </a:br>
            <a:r>
              <a:rPr lang="pt-BR" sz="2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400" b="0" u="none" strike="noStrike">
              <a:solidFill>
                <a:srgbClr val="000000"/>
              </a:solidFill>
              <a:latin typeface="Arial"/>
              <a:cs typeface="Arial"/>
            </a:endParaRPr>
          </a:p>
        </p:txBody>
      </p:sp>
      <p:graphicFrame>
        <p:nvGraphicFramePr>
          <p:cNvPr id="950067650" name=""/>
          <p:cNvGraphicFramePr>
            <a:graphicFrameLocks xmlns:a="http://schemas.openxmlformats.org/drawingml/2006/main"/>
          </p:cNvGraphicFramePr>
          <p:nvPr/>
        </p:nvGraphicFramePr>
        <p:xfrm rot="0">
          <a:off x="481989" y="4220463"/>
          <a:ext cx="9213120" cy="2727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20938"/>
                <a:gridCol w="2274421"/>
                <a:gridCol w="4816383"/>
              </a:tblGrid>
              <a:tr h="853903">
                <a:tc>
                  <a:txBody>
                    <a:bodyPr/>
                    <a:p>
                      <a:pPr algn="ctr">
                        <a:spcBef>
                          <a:spcPts val="674"/>
                        </a:spcBef>
                        <a:spcAft>
                          <a:spcPts val="560"/>
                        </a:spcAft>
                        <a:defRPr/>
                      </a:pPr>
                      <a:r>
                        <a:rPr lang="pt-BR" sz="2000" b="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Período</a:t>
                      </a:r>
                      <a:endParaRPr sz="2000" b="0" u="none" strike="noStrike">
                        <a:solidFill>
                          <a:srgbClr val="C00000"/>
                        </a:solidFill>
                        <a:latin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 algn="ctr">
                      <a:solidFill>
                        <a:srgbClr val="000000"/>
                      </a:solidFill>
                    </a:lnL>
                    <a:lnR w="7200" algn="ctr">
                      <a:solidFill>
                        <a:srgbClr val="000000"/>
                      </a:solidFill>
                    </a:lnR>
                    <a:lnT w="7200" algn="ctr">
                      <a:solidFill>
                        <a:srgbClr val="000000"/>
                      </a:solidFill>
                    </a:lnT>
                    <a:lnB w="720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674"/>
                        </a:spcBef>
                        <a:spcAft>
                          <a:spcPts val="560"/>
                        </a:spcAft>
                        <a:defRPr/>
                      </a:pPr>
                      <a:r>
                        <a:rPr lang="pt-BR" sz="2000" b="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Horário</a:t>
                      </a:r>
                      <a:endParaRPr sz="2000" b="0" u="none" strike="noStrike">
                        <a:solidFill>
                          <a:srgbClr val="C00000"/>
                        </a:solidFill>
                        <a:latin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 algn="ctr">
                      <a:solidFill>
                        <a:srgbClr val="000000"/>
                      </a:solidFill>
                    </a:lnL>
                    <a:lnR w="7200" algn="ctr">
                      <a:solidFill>
                        <a:srgbClr val="000000"/>
                      </a:solidFill>
                    </a:lnR>
                    <a:lnT w="7200" algn="ctr">
                      <a:solidFill>
                        <a:srgbClr val="000000"/>
                      </a:solidFill>
                    </a:lnT>
                    <a:lnB w="720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674"/>
                        </a:spcBef>
                        <a:spcAft>
                          <a:spcPts val="560"/>
                        </a:spcAft>
                        <a:defRPr/>
                      </a:pPr>
                      <a:r>
                        <a:rPr lang="pt-BR" sz="2000" b="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O que é fiscalizado?</a:t>
                      </a:r>
                      <a:endParaRPr sz="2000" b="0" u="none" strike="noStrike">
                        <a:solidFill>
                          <a:srgbClr val="C00000"/>
                        </a:solidFill>
                        <a:latin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 algn="ctr">
                      <a:solidFill>
                        <a:srgbClr val="000000"/>
                      </a:solidFill>
                    </a:lnL>
                    <a:lnR w="7200" algn="ctr">
                      <a:solidFill>
                        <a:srgbClr val="000000"/>
                      </a:solidFill>
                    </a:lnR>
                    <a:lnT w="7200" algn="ctr">
                      <a:solidFill>
                        <a:srgbClr val="000000"/>
                      </a:solidFill>
                    </a:lnT>
                    <a:lnB w="720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09507">
                <a:tc>
                  <a:txBody>
                    <a:bodyPr/>
                    <a:p>
                      <a:pPr>
                        <a:defRPr/>
                      </a:pPr>
                      <a:r>
                        <a:rPr lang="pt-BR" sz="2000" b="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Diurno</a:t>
                      </a:r>
                      <a:endParaRPr sz="2000" b="0" u="none" strike="noStrike">
                        <a:solidFill>
                          <a:srgbClr val="C00000"/>
                        </a:solidFill>
                        <a:latin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 algn="ctr">
                      <a:solidFill>
                        <a:srgbClr val="000000"/>
                      </a:solidFill>
                    </a:lnL>
                    <a:lnR w="7200" algn="ctr">
                      <a:solidFill>
                        <a:srgbClr val="000000"/>
                      </a:solidFill>
                    </a:lnR>
                    <a:lnT w="7200" algn="ctr">
                      <a:solidFill>
                        <a:srgbClr val="000000"/>
                      </a:solidFill>
                    </a:lnT>
                    <a:lnB w="720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BR" sz="2000" b="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06:00 às 23:59</a:t>
                      </a:r>
                      <a:endParaRPr sz="2000" b="0" u="none" strike="noStrike">
                        <a:solidFill>
                          <a:srgbClr val="C00000"/>
                        </a:solidFill>
                        <a:latin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 algn="ctr">
                      <a:solidFill>
                        <a:srgbClr val="000000"/>
                      </a:solidFill>
                    </a:lnL>
                    <a:lnR w="7200" algn="ctr">
                      <a:solidFill>
                        <a:srgbClr val="000000"/>
                      </a:solidFill>
                    </a:lnR>
                    <a:lnT w="7200" algn="ctr">
                      <a:solidFill>
                        <a:srgbClr val="000000"/>
                      </a:solidFill>
                    </a:lnT>
                    <a:lnB w="720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BR" sz="2000" b="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FP Indutivo inferior a 0,92</a:t>
                      </a:r>
                      <a:endParaRPr sz="2000" b="0" u="none" strike="noStrike">
                        <a:solidFill>
                          <a:srgbClr val="C00000"/>
                        </a:solidFill>
                        <a:latin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 algn="ctr">
                      <a:solidFill>
                        <a:srgbClr val="000000"/>
                      </a:solidFill>
                    </a:lnL>
                    <a:lnR w="7200" algn="ctr">
                      <a:solidFill>
                        <a:srgbClr val="000000"/>
                      </a:solidFill>
                    </a:lnR>
                    <a:lnT w="7200" algn="ctr">
                      <a:solidFill>
                        <a:srgbClr val="000000"/>
                      </a:solidFill>
                    </a:lnT>
                    <a:lnB w="720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11127">
                <a:tc>
                  <a:txBody>
                    <a:bodyPr/>
                    <a:p>
                      <a:pPr>
                        <a:defRPr/>
                      </a:pPr>
                      <a:r>
                        <a:rPr lang="pt-BR" sz="2000" b="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Noturno</a:t>
                      </a:r>
                      <a:endParaRPr sz="2000" b="0" u="none" strike="noStrike">
                        <a:solidFill>
                          <a:srgbClr val="C00000"/>
                        </a:solidFill>
                        <a:latin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 algn="ctr">
                      <a:solidFill>
                        <a:srgbClr val="000000"/>
                      </a:solidFill>
                    </a:lnL>
                    <a:lnR w="7200" algn="ctr">
                      <a:solidFill>
                        <a:srgbClr val="000000"/>
                      </a:solidFill>
                    </a:lnR>
                    <a:lnT w="7200" algn="ctr">
                      <a:solidFill>
                        <a:srgbClr val="000000"/>
                      </a:solidFill>
                    </a:lnT>
                    <a:lnB w="720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BR" sz="2000" b="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00:00 às 05:59</a:t>
                      </a:r>
                      <a:endParaRPr sz="2000" b="0" u="none" strike="noStrike">
                        <a:solidFill>
                          <a:srgbClr val="C00000"/>
                        </a:solidFill>
                        <a:latin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 algn="ctr">
                      <a:solidFill>
                        <a:srgbClr val="000000"/>
                      </a:solidFill>
                    </a:lnL>
                    <a:lnR w="7200" algn="ctr">
                      <a:solidFill>
                        <a:srgbClr val="000000"/>
                      </a:solidFill>
                    </a:lnR>
                    <a:lnT w="7200" algn="ctr">
                      <a:solidFill>
                        <a:srgbClr val="000000"/>
                      </a:solidFill>
                    </a:lnT>
                    <a:lnB w="720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BR" sz="2000" b="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FP Capacitivo inferior a 0,92</a:t>
                      </a:r>
                      <a:endParaRPr sz="2000" b="0" u="none" strike="noStrike">
                        <a:solidFill>
                          <a:srgbClr val="C00000"/>
                        </a:solidFill>
                        <a:latin typeface="Arial"/>
                        <a:cs typeface="Arial"/>
                      </a:endParaRPr>
                    </a:p>
                  </a:txBody>
                  <a:tcPr marL="36000" marR="36000" marT="45720" marB="45720" anchor="ctr">
                    <a:lnL w="7200" algn="ctr">
                      <a:solidFill>
                        <a:srgbClr val="000000"/>
                      </a:solidFill>
                    </a:lnL>
                    <a:lnR w="7200" algn="ctr">
                      <a:solidFill>
                        <a:srgbClr val="000000"/>
                      </a:solidFill>
                    </a:lnR>
                    <a:lnT w="7200" algn="ctr">
                      <a:solidFill>
                        <a:srgbClr val="000000"/>
                      </a:solidFill>
                    </a:lnT>
                    <a:lnB w="720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63562482" name="PlaceHolder 3"/>
          <p:cNvSpPr>
            <a:spLocks noGrp="1"/>
          </p:cNvSpPr>
          <p:nvPr>
            <p:ph type="sldNum" idx="1"/>
          </p:nvPr>
        </p:nvSpPr>
        <p:spPr bwMode="auto"/>
        <p:txBody>
          <a:bodyPr/>
          <a:p>
            <a:pPr>
              <a:defRPr/>
            </a:pPr>
            <a:fld id="{04E00941-04C8-D310-17AE-02F6E6FE24D5}" type="slidenum">
              <a:rPr>
                <a:latin typeface="Arial"/>
                <a:ea typeface="Arial"/>
                <a:cs typeface="Arial"/>
              </a:rPr>
              <a:t/>
            </a:fld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noFill/>
        <a:ln w="25400" cap="flat" cmpd="sng" algn="ctr">
          <a:solidFill>
            <a:srgbClr val="C00000"/>
          </a:solidFill>
          <a:prstDash val="solid"/>
          <a:miter lim="800000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noFill/>
        <a:ln w="25400" cap="flat" cmpd="sng" algn="ctr">
          <a:solidFill>
            <a:srgbClr val="C00000"/>
          </a:solidFill>
          <a:prstDash val="solid"/>
          <a:miter lim="800000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</cp:revision>
  <dcterms:modified xsi:type="dcterms:W3CDTF">2026-01-11T19:37:07Z</dcterms:modified>
</cp:coreProperties>
</file>