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2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6858000" type="screen4x3"/>
  <p:notesSz cx="6858000" cy="9144000"/>
  <p:defaultTextStyle>
    <a:defPPr>
      <a:defRPr lang="pt-B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2" d="100"/>
          <a:sy n="92" d="100"/>
        </p:scale>
        <p:origin x="618" y="90"/>
      </p:cViewPr>
      <p:guideLst>
        <p:guide pos="288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Relationship Id="rId33" Type="http://schemas.onlyoffice.com/jsaProject" Target="jsaProject.bin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0668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770277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1/7/2026</a:t>
            </a:fld>
            <a:endParaRPr lang="en-US"/>
          </a:p>
        </p:txBody>
      </p:sp>
      <p:sp>
        <p:nvSpPr>
          <p:cNvPr id="18274147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8011026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887968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566594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1548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533223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70120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6F8ED3-30AA-9D85-FF9B-BD49B111D2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5922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367586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76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826707-7583-AB81-27A3-EA6BB997487F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9725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03656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3204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6D7587-B021-050E-FED6-1763973E02F8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324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240207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768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39719D-8C69-A20E-C36F-D01655DB311F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34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5796728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93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85378F-E652-2F40-5310-AE3CFD2A5A1A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02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84687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123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617B6-CA44-7E1C-6AA5-8EF1BC53A3D2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6281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689881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331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E079A4-7651-03B9-95AC-66A839B486D8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4394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819526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6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71195F-DD50-703B-5405-F1B491DACD15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0278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945869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0331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E4E8DF-9BDA-9504-528B-AB0DC9C812B2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212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4607869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344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8F615C-F959-F677-84E5-7FFC016EB45B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2537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400468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6524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0188C-56CF-24BA-A3C8-A6F20B75B8C5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9126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386520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59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DC3A5-497E-DDF8-4159-4B570D1B09C7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7823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546225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12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46F4BD-CF4E-EAA7-493B-BEA1B1F8DD21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610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482749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83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51391F-22C0-73A8-14D8-C78AB523ABB8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3693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46749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58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80EE8D-7F21-C5E4-C235-028899D7FE15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0416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736611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374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F46D42-8DD0-40F2-20D6-E9DDC62E2091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1738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158961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7452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CA8E8E-BEEE-00D3-F6B8-C2C5B712706A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8935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287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984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DE927-2363-1500-DC25-272BAA8A5110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183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402310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7670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11D2-C13E-5756-4404-0AB20F6F2823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552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741130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244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F63A3E-D446-9F22-6BA8-19E0B8ABC97D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112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233991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808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5FDC1-5ED8-1C6E-F4B1-5D8CC1AC152C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9058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606348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497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7D5614-4866-9259-CA5F-E31147736A8A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195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320533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916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F45708-CB00-56D2-5EBF-2B8C4E1A709B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566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44105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75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0CCF19-74BF-9B1A-B72F-884CC6C4B5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139408" name="Title 1"/>
          <p:cNvSpPr>
            <a:spLocks noGrp="1"/>
          </p:cNvSpPr>
          <p:nvPr>
            <p:ph type="ctrTitle"/>
          </p:nvPr>
        </p:nvSpPr>
        <p:spPr bwMode="auto">
          <a:xfrm>
            <a:off x="288000" y="1123200"/>
            <a:ext cx="8640000" cy="2386800"/>
          </a:xfrm>
        </p:spPr>
        <p:txBody>
          <a:bodyPr anchor="b"/>
          <a:lstStyle>
            <a:lvl1pPr algn="l">
              <a:defRPr lang="pt-BR" sz="36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lang="pt-BR"/>
            </a:lvl2pPr>
            <a:lvl3pPr>
              <a:defRPr lang="pt-BR"/>
            </a:lvl3pPr>
            <a:lvl4pPr>
              <a:defRPr lang="pt-BR"/>
            </a:lvl4pPr>
            <a:lvl5pPr>
              <a:defRPr lang="pt-BR"/>
            </a:lvl5pPr>
            <a:lvl6pPr>
              <a:defRPr lang="pt-BR"/>
            </a:lvl6pPr>
            <a:lvl7pPr>
              <a:defRPr lang="pt-BR"/>
            </a:lvl7pPr>
            <a:lvl8pPr>
              <a:defRPr lang="pt-BR"/>
            </a:lvl8pPr>
            <a:lvl9pPr>
              <a:defRPr lang="pt-BR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05690879" name="Subtitle 2"/>
          <p:cNvSpPr>
            <a:spLocks noGrp="1"/>
          </p:cNvSpPr>
          <p:nvPr>
            <p:ph type="subTitle" idx="1"/>
          </p:nvPr>
        </p:nvSpPr>
        <p:spPr bwMode="auto">
          <a:xfrm>
            <a:off x="288000" y="3602037"/>
            <a:ext cx="8640000" cy="3119436"/>
          </a:xfrm>
        </p:spPr>
        <p:txBody>
          <a:bodyPr/>
          <a:lstStyle>
            <a:lvl1pPr marL="0" indent="0" algn="l">
              <a:buNone/>
              <a:defRPr lang="pt-BR" sz="2400">
                <a:latin typeface="Arial"/>
                <a:ea typeface="Arial"/>
                <a:cs typeface="Arial"/>
              </a:defRPr>
            </a:lvl1pPr>
            <a:lvl2pPr marL="457200" indent="0" algn="l">
              <a:buNone/>
              <a:defRPr lang="pt-BR" sz="2000">
                <a:latin typeface="Arial"/>
                <a:ea typeface="Arial"/>
                <a:cs typeface="Arial"/>
              </a:defRPr>
            </a:lvl2pPr>
            <a:lvl3pPr marL="914400" indent="0" algn="l">
              <a:buNone/>
              <a:defRPr lang="pt-BR" sz="1800">
                <a:latin typeface="Arial"/>
                <a:ea typeface="Arial"/>
                <a:cs typeface="Arial"/>
              </a:defRPr>
            </a:lvl3pPr>
            <a:lvl4pPr marL="1371600" indent="0" algn="l">
              <a:buNone/>
              <a:defRPr lang="pt-BR" sz="1600">
                <a:latin typeface="Arial"/>
                <a:ea typeface="Arial"/>
                <a:cs typeface="Arial"/>
              </a:defRPr>
            </a:lvl4pPr>
            <a:lvl5pPr marL="1828800" indent="0" algn="l">
              <a:buNone/>
              <a:defRPr lang="pt-BR" sz="1600">
                <a:latin typeface="Arial"/>
                <a:ea typeface="Arial"/>
                <a:cs typeface="Arial"/>
              </a:defRPr>
            </a:lvl5pPr>
            <a:lvl6pPr marL="2286000" indent="0" algn="l">
              <a:buNone/>
              <a:defRPr lang="pt-BR" sz="1600">
                <a:latin typeface="Arial"/>
                <a:ea typeface="Arial"/>
                <a:cs typeface="Arial"/>
              </a:defRPr>
            </a:lvl6pPr>
            <a:lvl7pPr marL="2743200" indent="0" algn="l">
              <a:buNone/>
              <a:defRPr lang="pt-BR" sz="1600">
                <a:latin typeface="Arial"/>
                <a:ea typeface="Arial"/>
                <a:cs typeface="Arial"/>
              </a:defRPr>
            </a:lvl7pPr>
            <a:lvl8pPr marL="3200400" indent="0" algn="l">
              <a:buNone/>
              <a:defRPr lang="pt-BR" sz="1600">
                <a:latin typeface="Arial"/>
                <a:ea typeface="Arial"/>
                <a:cs typeface="Arial"/>
              </a:defRPr>
            </a:lvl8pPr>
            <a:lvl9pPr marL="3657600" indent="0" algn="l">
              <a:buNone/>
              <a:defRPr lang="pt-BR" sz="1600"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63286959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>
            <a:lvl1pPr>
              <a:defRPr lang="pt-BR"/>
            </a:lvl1pPr>
            <a:lvl2pPr>
              <a:defRPr lang="pt-BR"/>
            </a:lvl2pPr>
            <a:lvl3pPr>
              <a:defRPr lang="pt-BR"/>
            </a:lvl3pPr>
            <a:lvl4pPr>
              <a:defRPr lang="pt-BR"/>
            </a:lvl4pPr>
            <a:lvl5pPr>
              <a:defRPr lang="pt-BR"/>
            </a:lvl5pPr>
            <a:lvl6pPr>
              <a:defRPr lang="pt-BR"/>
            </a:lvl6pPr>
            <a:lvl7pPr>
              <a:defRPr lang="pt-BR"/>
            </a:lvl7pPr>
            <a:lvl8pPr>
              <a:defRPr lang="pt-BR"/>
            </a:lvl8pPr>
            <a:lvl9pPr>
              <a:defRPr lang="pt-BR"/>
            </a:lvl9pPr>
          </a:lstStyle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90674175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>
            <a:lvl1pPr>
              <a:defRPr lang="pt-BR"/>
            </a:lvl1pPr>
            <a:lvl2pPr>
              <a:defRPr lang="pt-BR"/>
            </a:lvl2pPr>
            <a:lvl3pPr>
              <a:defRPr lang="pt-BR"/>
            </a:lvl3pPr>
            <a:lvl4pPr>
              <a:defRPr lang="pt-BR"/>
            </a:lvl4pPr>
            <a:lvl5pPr>
              <a:defRPr lang="pt-BR"/>
            </a:lvl5pPr>
            <a:lvl6pPr>
              <a:defRPr lang="pt-BR"/>
            </a:lvl6pPr>
            <a:lvl7pPr>
              <a:defRPr lang="pt-BR"/>
            </a:lvl7pPr>
            <a:lvl8pPr>
              <a:defRPr lang="pt-BR"/>
            </a:lvl8pPr>
            <a:lvl9pPr>
              <a:defRPr lang="pt-BR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4207320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lang="pt-BR">
                <a:solidFill>
                  <a:schemeClr val="tx2"/>
                </a:solidFill>
              </a:defRPr>
            </a:lvl1pPr>
            <a:lvl2pPr>
              <a:defRPr lang="pt-BR"/>
            </a:lvl2pPr>
            <a:lvl3pPr>
              <a:defRPr lang="pt-BR"/>
            </a:lvl3pPr>
            <a:lvl4pPr>
              <a:defRPr lang="pt-BR"/>
            </a:lvl4pPr>
            <a:lvl5pPr>
              <a:defRPr lang="pt-BR"/>
            </a:lvl5pPr>
            <a:lvl6pPr>
              <a:defRPr lang="pt-BR"/>
            </a:lvl6pPr>
            <a:lvl7pPr>
              <a:defRPr lang="pt-BR"/>
            </a:lvl7pPr>
            <a:lvl8pPr>
              <a:defRPr lang="pt-BR"/>
            </a:lvl8pPr>
            <a:lvl9pPr>
              <a:defRPr lang="pt-BR"/>
            </a:lvl9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975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9287832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56404137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203964258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28581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594686" name="Title 1"/>
          <p:cNvSpPr>
            <a:spLocks noGrp="1"/>
          </p:cNvSpPr>
          <p:nvPr>
            <p:ph type="title"/>
          </p:nvPr>
        </p:nvSpPr>
        <p:spPr bwMode="auto"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949901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887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452231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34706932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73347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2973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9015095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3567720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49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80210250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278766662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15992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342853" name="Title 1"/>
          <p:cNvSpPr>
            <a:spLocks noGrp="1"/>
          </p:cNvSpPr>
          <p:nvPr>
            <p:ph type="title"/>
          </p:nvPr>
        </p:nvSpPr>
        <p:spPr bwMode="auto">
          <a:xfrm>
            <a:off x="629841" y="365125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740191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322980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1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0483273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49" y="1681163"/>
            <a:ext cx="38873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548606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49" y="2505074"/>
            <a:ext cx="3887390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12686415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742710674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393349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7163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48913898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520890962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535576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187735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256920205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691370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757958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81642766" name="Content Placeholder 2"/>
          <p:cNvSpPr>
            <a:spLocks noGrp="1"/>
          </p:cNvSpPr>
          <p:nvPr>
            <p:ph idx="1"/>
          </p:nvPr>
        </p:nvSpPr>
        <p:spPr bwMode="auto">
          <a:xfrm>
            <a:off x="3887390" y="987425"/>
            <a:ext cx="462914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8431853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11697737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543323045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66963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872420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1762785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3887390" y="987425"/>
            <a:ext cx="462914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09004641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5942634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50858011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481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1735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0104424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68698592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61567861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96904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60593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3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6580885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22057169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78430459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97778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903868" name="Title Placeholder 1"/>
          <p:cNvSpPr>
            <a:spLocks noGrp="1"/>
          </p:cNvSpPr>
          <p:nvPr>
            <p:ph type="title"/>
          </p:nvPr>
        </p:nvSpPr>
        <p:spPr bwMode="auto">
          <a:xfrm>
            <a:off x="288000" y="288179"/>
            <a:ext cx="8640720" cy="652627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>
            <a:lvl1pPr>
              <a:lnSpc>
                <a:spcPct val="100000"/>
              </a:lnSpc>
              <a:defRPr lang="pt-BR" sz="320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2pPr>
            <a:lvl3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3pPr>
            <a:lvl4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4pPr>
            <a:lvl5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5pPr>
            <a:lvl6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6pPr>
            <a:lvl7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7pPr>
            <a:lvl8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8pPr>
            <a:lvl9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8307051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8000" y="1440000"/>
            <a:ext cx="8640000" cy="5220000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Autofit/>
          </a:bodyPr>
          <a:lstStyle>
            <a:lvl1pPr>
              <a:lnSpc>
                <a:spcPct val="114999"/>
              </a:lnSpc>
              <a:spcBef>
                <a:spcPts val="3400"/>
              </a:spcBef>
              <a:defRPr lang="pt-BR" sz="2200">
                <a:latin typeface="Arial"/>
                <a:ea typeface="Arial"/>
                <a:cs typeface="Arial"/>
              </a:defRPr>
            </a:lvl1pPr>
            <a:lvl2pPr>
              <a:lnSpc>
                <a:spcPct val="114999"/>
              </a:lnSpc>
              <a:spcBef>
                <a:spcPts val="565"/>
              </a:spcBef>
              <a:defRPr lang="pt-BR" sz="2000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14999"/>
              </a:lnSpc>
              <a:spcBef>
                <a:spcPts val="565"/>
              </a:spcBef>
              <a:defRPr lang="pt-BR" sz="2000">
                <a:solidFill>
                  <a:srgbClr val="00B050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14999"/>
              </a:lnSpc>
              <a:spcBef>
                <a:spcPts val="565"/>
              </a:spcBef>
              <a:defRPr lang="pt-BR" sz="200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14999"/>
              </a:lnSpc>
              <a:spcBef>
                <a:spcPts val="565"/>
              </a:spcBef>
              <a:defRPr lang="pt-BR" sz="2000">
                <a:solidFill>
                  <a:srgbClr val="7030A0"/>
                </a:solidFill>
                <a:latin typeface="Arial"/>
                <a:ea typeface="Arial"/>
                <a:cs typeface="Arial"/>
              </a:defRPr>
            </a:lvl5pPr>
            <a:lvl6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6pPr>
            <a:lvl7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7pPr>
            <a:lvl8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8pPr>
            <a:lvl9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765014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908400" y="108000"/>
            <a:ext cx="214071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14999"/>
              </a:lnSpc>
              <a:defRPr lang="pt-BR" sz="18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2pPr>
            <a:lvl3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3pPr>
            <a:lvl4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4pPr>
            <a:lvl5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5pPr>
            <a:lvl6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6pPr>
            <a:lvl7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7pPr>
            <a:lvl8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8pPr>
            <a:lvl9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938266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 algn="l">
              <a:defRPr/>
            </a:pPr>
            <a:r>
              <a:rPr lang="pt-BR" sz="36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Demanda de energia de uma instalação elétrica</a:t>
            </a:r>
            <a:endParaRPr/>
          </a:p>
        </p:txBody>
      </p:sp>
      <p:sp>
        <p:nvSpPr>
          <p:cNvPr id="1159084911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algn="l">
              <a:spcBef>
                <a:spcPts val="1417"/>
              </a:spcBef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Instalações Elétricas de Baixa Tensão</a:t>
            </a:r>
            <a:endParaRPr/>
          </a:p>
          <a:p>
            <a:pPr algn="l">
              <a:spcBef>
                <a:spcPts val="4251"/>
              </a:spcBef>
              <a:defRPr/>
            </a:pPr>
            <a:r>
              <a:rPr lang="pt-BR" sz="1800"/>
              <a:t>Eduardo Furlan Miranda</a:t>
            </a:r>
            <a:endParaRPr lang="pt-BR" sz="2000"/>
          </a:p>
          <a:p>
            <a:pPr algn="l">
              <a:spcBef>
                <a:spcPts val="0"/>
              </a:spcBef>
              <a:defRPr/>
            </a:pPr>
            <a:r>
              <a:rPr lang="pt-BR" sz="1800"/>
              <a:t>2026-02-01</a:t>
            </a:r>
            <a:endParaRPr sz="2000"/>
          </a:p>
          <a:p>
            <a:pPr algn="r">
              <a:spcBef>
                <a:spcPts val="5669"/>
              </a:spcBef>
              <a:defRPr/>
            </a:pPr>
            <a:r>
              <a:rPr lang="pt-BR" sz="1800"/>
              <a:t>Baseado em: </a:t>
            </a:r>
            <a:r>
              <a:rPr lang="pt-B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NUNES, B. M. </a:t>
            </a:r>
            <a:r>
              <a:rPr lang="pt-BR" sz="18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Instalações elétricas de baixa tensão</a:t>
            </a:r>
            <a:r>
              <a:rPr lang="pt-BR" sz="1800"/>
              <a:t>.</a:t>
            </a:r>
            <a:endParaRPr sz="2000"/>
          </a:p>
          <a:p>
            <a:pPr algn="r">
              <a:spcBef>
                <a:spcPts val="0"/>
              </a:spcBef>
              <a:defRPr/>
            </a:pPr>
            <a:r>
              <a:rPr lang="pt-B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Londrina: EDE SA, 2019. ISBN 978-85-522-1412-0</a:t>
            </a:r>
            <a:r>
              <a:rPr lang="pt-BR" sz="1800"/>
              <a:t>.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55747" name="Title 1"/>
          <p:cNvSpPr>
            <a:spLocks noGrp="1"/>
          </p:cNvSpPr>
          <p:nvPr>
            <p:ph type="title"/>
          </p:nvPr>
        </p:nvSpPr>
        <p:spPr bwMode="auto">
          <a:xfrm>
            <a:off x="288000" y="324932"/>
            <a:ext cx="8641080" cy="579479"/>
          </a:xfrm>
        </p:spPr>
        <p:txBody>
          <a:bodyPr/>
          <a:lstStyle/>
          <a:p>
            <a:pPr>
              <a:defRPr/>
            </a:pPr>
            <a:r>
              <a:rPr lang="pt-BR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Atualizações das normas e métodos</a:t>
            </a:r>
            <a:endParaRPr/>
          </a:p>
        </p:txBody>
      </p:sp>
      <p:sp>
        <p:nvSpPr>
          <p:cNvPr id="90679542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Distribuidora Neoenergia Elektro (antiga distribuidora Elektro)</a:t>
            </a:r>
            <a:endParaRPr lang="pt-BR"/>
          </a:p>
          <a:p>
            <a:pPr lvl="1">
              <a:defRPr/>
            </a:pPr>
            <a:r>
              <a:rPr lang="pt-BR"/>
              <a:t>DIS-NOR-030 2025 em substituição à ND.10</a:t>
            </a:r>
            <a:endParaRPr lang="pt-BR"/>
          </a:p>
          <a:p>
            <a:pPr lvl="1">
              <a:defRPr/>
            </a:pPr>
            <a:r>
              <a:rPr lang="pt-BR"/>
              <a:t>DIS-NOR-053 2025 em substituição à ND.26</a:t>
            </a:r>
            <a:endParaRPr lang="pt-BR"/>
          </a:p>
          <a:p>
            <a:pPr>
              <a:defRPr/>
            </a:pPr>
            <a:r>
              <a:rPr lang="pt-BR"/>
              <a:t>Distribuidora Enel Distribuição São Paulo (antiga Eletropaulo)</a:t>
            </a:r>
            <a:endParaRPr lang="pt-BR"/>
          </a:p>
          <a:p>
            <a:pPr lvl="1">
              <a:defRPr/>
            </a:pPr>
            <a:r>
              <a:rPr lang="pt-BR"/>
              <a:t>Especificação Técnica</a:t>
            </a:r>
            <a:r>
              <a:rPr lang="pt-BR"/>
              <a:t> nº 0017</a:t>
            </a:r>
            <a:r>
              <a:rPr lang="pt-BR" sz="2000" b="0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r>
              <a:rPr lang="pt-BR" sz="2000" b="0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</a:rPr>
              <a:t>2025</a:t>
            </a:r>
            <a:r>
              <a:rPr lang="pt-BR"/>
              <a:t> (GRI-EDBR-CNC-GRI-0017), e</a:t>
            </a:r>
            <a:endParaRPr lang="pt-BR"/>
          </a:p>
          <a:p>
            <a:pPr lvl="1">
              <a:defRPr/>
            </a:pPr>
            <a:r>
              <a:rPr lang="pt-BR"/>
              <a:t>ET nº 0018 (GRI-EDBR-CNC-GRI-0018) substituindo a LIG BT</a:t>
            </a:r>
            <a:endParaRPr lang="pt-BR"/>
          </a:p>
          <a:p>
            <a:pPr>
              <a:defRPr/>
            </a:pPr>
            <a:r>
              <a:rPr lang="pt-BR"/>
              <a:t>CPFL</a:t>
            </a:r>
            <a:endParaRPr lang="pt-BR"/>
          </a:p>
          <a:p>
            <a:pPr lvl="1">
              <a:defRPr/>
            </a:pPr>
            <a:r>
              <a:rPr lang="pt-BR"/>
              <a:t>GED-13 2025 Fornecimento em Tensão Secundária de Distribuição</a:t>
            </a:r>
            <a:endParaRPr lang="pt-BR"/>
          </a:p>
          <a:p>
            <a:pPr lvl="1">
              <a:defRPr/>
            </a:pPr>
            <a:r>
              <a:rPr lang="pt-BR"/>
              <a:t>GED-119 2023 Fornecimento de Energia Elétrica a Edifícios de uso Coletivo</a:t>
            </a:r>
            <a:endParaRPr/>
          </a:p>
        </p:txBody>
      </p:sp>
      <p:sp>
        <p:nvSpPr>
          <p:cNvPr id="10785397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C2F536E-DEA5-2D0B-2135-5EF8A9D40FF8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077097" name="Title 1"/>
          <p:cNvSpPr>
            <a:spLocks noGrp="1"/>
          </p:cNvSpPr>
          <p:nvPr>
            <p:ph type="title"/>
          </p:nvPr>
        </p:nvSpPr>
        <p:spPr bwMode="auto">
          <a:xfrm>
            <a:off x="288000" y="288359"/>
            <a:ext cx="8641079" cy="652627"/>
          </a:xfrm>
        </p:spPr>
        <p:txBody>
          <a:bodyPr/>
          <a:lstStyle/>
          <a:p>
            <a:pPr>
              <a:defRPr/>
            </a:pPr>
            <a:r>
              <a:rPr lang="pt-BR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Atualizações das normas e métodos</a:t>
            </a:r>
            <a:endParaRPr/>
          </a:p>
        </p:txBody>
      </p:sp>
      <p:sp>
        <p:nvSpPr>
          <p:cNvPr id="211018293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88000" y="1373371"/>
            <a:ext cx="8640000" cy="5286626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pt-BR"/>
              <a:t>Cemig</a:t>
            </a:r>
            <a:endParaRPr/>
          </a:p>
          <a:p>
            <a:pPr lvl="1">
              <a:spcBef>
                <a:spcPts val="0"/>
              </a:spcBef>
              <a:defRPr/>
            </a:pPr>
            <a:r>
              <a:rPr lang="pt-BR"/>
              <a:t>ND.5.1 2024 Fornecimento de energia elétrica em tensão secundária – Rede de distribuição aérea – edificações individuais</a:t>
            </a:r>
            <a:endParaRPr/>
          </a:p>
          <a:p>
            <a:pPr lvl="1">
              <a:defRPr/>
            </a:pPr>
            <a:r>
              <a:rPr lang="pt-BR"/>
              <a:t>ND.5.2 2024 Fornecimento de energia elétrica em tensão secundária – Rede de distribuição aérea – edificações coletivas</a:t>
            </a:r>
            <a:endParaRPr/>
          </a:p>
          <a:p>
            <a:pPr>
              <a:defRPr/>
            </a:pPr>
            <a:r>
              <a:rPr lang="pt-BR"/>
              <a:t>Fator de potência unitário para iluminação</a:t>
            </a:r>
            <a:endParaRPr lang="pt-BR"/>
          </a:p>
          <a:p>
            <a:pPr lvl="1">
              <a:defRPr/>
            </a:pPr>
            <a:r>
              <a:rPr lang="pt-BR"/>
              <a:t>Revisão da premissa de cálculo, pois o uso massivo de tecnologia LED implica fatores de potência inferiores a 1,0, alterando o resultado da demanda em VA em relação ao modelo puramente resistivo das lâmpadas incandescentes e halógenas</a:t>
            </a:r>
            <a:endParaRPr/>
          </a:p>
        </p:txBody>
      </p:sp>
      <p:sp>
        <p:nvSpPr>
          <p:cNvPr id="2511021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0147657-6B49-4A1A-1B70-9B30FD81EC89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91423" name="Title 1"/>
          <p:cNvSpPr>
            <a:spLocks noGrp="1"/>
          </p:cNvSpPr>
          <p:nvPr>
            <p:ph type="title"/>
          </p:nvPr>
        </p:nvSpPr>
        <p:spPr bwMode="auto">
          <a:xfrm>
            <a:off x="288000" y="291239"/>
            <a:ext cx="8646839" cy="652627"/>
          </a:xfrm>
        </p:spPr>
        <p:txBody>
          <a:bodyPr/>
          <a:lstStyle/>
          <a:p>
            <a:pPr>
              <a:defRPr/>
            </a:pPr>
            <a:r>
              <a:rPr/>
              <a:t>Potência consumida</a:t>
            </a:r>
            <a:endParaRPr/>
          </a:p>
        </p:txBody>
      </p:sp>
      <p:sp>
        <p:nvSpPr>
          <p:cNvPr id="25530340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Se pudermos observar o consumo total de energia elétrica de uma residência perceberemos que a potência consumida em cada instante varia durante um dia inteiro</a:t>
            </a:r>
            <a:endParaRPr/>
          </a:p>
          <a:p>
            <a:pPr>
              <a:defRPr/>
            </a:pPr>
            <a:r>
              <a:rPr lang="pt-BR"/>
              <a:t>Os equipamentos são ligados e utilizados em diferentes horários</a:t>
            </a:r>
            <a:endParaRPr/>
          </a:p>
          <a:p>
            <a:pPr>
              <a:defRPr/>
            </a:pPr>
            <a:r>
              <a:rPr lang="pt-BR"/>
              <a:t>A potência total consumida em uma instalação é uma combinação</a:t>
            </a:r>
            <a:endParaRPr/>
          </a:p>
          <a:p>
            <a:pPr lvl="1">
              <a:defRPr/>
            </a:pPr>
            <a:r>
              <a:rPr lang="pt-BR"/>
              <a:t>Das potências individuais dos equipamentos</a:t>
            </a:r>
            <a:endParaRPr/>
          </a:p>
          <a:p>
            <a:pPr lvl="1">
              <a:defRPr/>
            </a:pPr>
            <a:r>
              <a:rPr lang="pt-BR"/>
              <a:t>Multiplicadas por um fator que representa sua utilização</a:t>
            </a:r>
            <a:endParaRPr/>
          </a:p>
          <a:p>
            <a:pPr lvl="2">
              <a:defRPr/>
            </a:pPr>
            <a:r>
              <a:rPr lang="pt-BR"/>
              <a:t>Conhecido como </a:t>
            </a:r>
            <a:r>
              <a:rPr lang="pt-BR">
                <a:solidFill>
                  <a:srgbClr val="C00000"/>
                </a:solidFill>
              </a:rPr>
              <a:t>Fator de Demanda (FD)</a:t>
            </a:r>
            <a:endParaRPr/>
          </a:p>
        </p:txBody>
      </p:sp>
      <p:sp>
        <p:nvSpPr>
          <p:cNvPr id="8943266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ECD1F-6187-3F07-11CF-A935EE50B1A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080489" name="Title 1"/>
          <p:cNvSpPr>
            <a:spLocks noGrp="1"/>
          </p:cNvSpPr>
          <p:nvPr>
            <p:ph type="title"/>
          </p:nvPr>
        </p:nvSpPr>
        <p:spPr bwMode="auto">
          <a:xfrm>
            <a:off x="288000" y="289259"/>
            <a:ext cx="8642879" cy="652627"/>
          </a:xfrm>
        </p:spPr>
        <p:txBody>
          <a:bodyPr/>
          <a:lstStyle/>
          <a:p>
            <a:pPr>
              <a:defRPr/>
            </a:pPr>
            <a:r>
              <a:rPr/>
              <a:t>Demanda</a:t>
            </a:r>
            <a:endParaRPr/>
          </a:p>
        </p:txBody>
      </p:sp>
      <p:sp>
        <p:nvSpPr>
          <p:cNvPr id="99336028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A demanda deve ser aplicada em residências, comércios e indústrias, para dimensionamento</a:t>
            </a:r>
            <a:endParaRPr/>
          </a:p>
          <a:p>
            <a:pPr lvl="1">
              <a:defRPr/>
            </a:pPr>
            <a:r>
              <a:rPr lang="pt-BR"/>
              <a:t>dos dispositivos de proteção</a:t>
            </a:r>
            <a:endParaRPr/>
          </a:p>
          <a:p>
            <a:pPr lvl="1">
              <a:defRPr/>
            </a:pPr>
            <a:r>
              <a:rPr lang="pt-BR"/>
              <a:t>do padrão de entrada</a:t>
            </a:r>
            <a:endParaRPr/>
          </a:p>
          <a:p>
            <a:pPr lvl="1">
              <a:defRPr/>
            </a:pPr>
            <a:r>
              <a:rPr lang="pt-BR"/>
              <a:t>dos transformadores</a:t>
            </a:r>
            <a:endParaRPr/>
          </a:p>
          <a:p>
            <a:pPr>
              <a:defRPr/>
            </a:pPr>
            <a:r>
              <a:rPr lang="pt-BR"/>
              <a:t>Possibilitando uma solução mais viável técnica e economicamente</a:t>
            </a:r>
            <a:endParaRPr/>
          </a:p>
        </p:txBody>
      </p:sp>
      <p:sp>
        <p:nvSpPr>
          <p:cNvPr id="9235914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DC7EE4A-6D8C-D587-452C-46739A147E6A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203287" name="Title 1"/>
          <p:cNvSpPr>
            <a:spLocks noGrp="1"/>
          </p:cNvSpPr>
          <p:nvPr>
            <p:ph type="title"/>
          </p:nvPr>
        </p:nvSpPr>
        <p:spPr bwMode="auto">
          <a:xfrm>
            <a:off x="288000" y="293939"/>
            <a:ext cx="8652239" cy="652627"/>
          </a:xfrm>
        </p:spPr>
        <p:txBody>
          <a:bodyPr/>
          <a:lstStyle/>
          <a:p>
            <a:pPr>
              <a:defRPr/>
            </a:pPr>
            <a:r>
              <a:rPr/>
              <a:t>Potência instalada</a:t>
            </a:r>
            <a:endParaRPr/>
          </a:p>
        </p:txBody>
      </p:sp>
      <p:sp>
        <p:nvSpPr>
          <p:cNvPr id="160015898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>
              <a:defRPr/>
            </a:pPr>
            <a:r>
              <a:rPr lang="pt-BR"/>
              <a:t>Conceitos importantes</a:t>
            </a:r>
            <a:endParaRPr/>
          </a:p>
          <a:p>
            <a:pPr lvl="1">
              <a:defRPr/>
            </a:pPr>
            <a:r>
              <a:rPr lang="pt-BR"/>
              <a:t>potência instalada</a:t>
            </a:r>
            <a:endParaRPr/>
          </a:p>
          <a:p>
            <a:pPr lvl="1">
              <a:defRPr/>
            </a:pPr>
            <a:r>
              <a:rPr lang="pt-BR"/>
              <a:t>demanda média</a:t>
            </a:r>
            <a:endParaRPr/>
          </a:p>
          <a:p>
            <a:pPr lvl="1">
              <a:defRPr/>
            </a:pPr>
            <a:r>
              <a:rPr lang="pt-BR"/>
              <a:t>demanda máxima</a:t>
            </a:r>
            <a:endParaRPr/>
          </a:p>
          <a:p>
            <a:pPr>
              <a:defRPr/>
            </a:pPr>
            <a:r>
              <a:rPr lang="pt-BR"/>
              <a:t>Potência instalada</a:t>
            </a:r>
            <a:endParaRPr/>
          </a:p>
          <a:p>
            <a:pPr lvl="1">
              <a:defRPr/>
            </a:pPr>
            <a:r>
              <a:rPr lang="pt-BR"/>
              <a:t>Soma (simples) das potências nominais de todos os equipamentos elétricos pertencentes a uma residência ou instalação elétrica</a:t>
            </a:r>
            <a:endParaRPr/>
          </a:p>
        </p:txBody>
      </p:sp>
      <p:sp>
        <p:nvSpPr>
          <p:cNvPr id="3782987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276C66-1178-51C4-E70E-8031201D119D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450018" name="Title 1"/>
          <p:cNvSpPr>
            <a:spLocks noGrp="1"/>
          </p:cNvSpPr>
          <p:nvPr>
            <p:ph type="title"/>
          </p:nvPr>
        </p:nvSpPr>
        <p:spPr bwMode="auto">
          <a:xfrm>
            <a:off x="288000" y="327992"/>
            <a:ext cx="8647198" cy="579479"/>
          </a:xfrm>
        </p:spPr>
        <p:txBody>
          <a:bodyPr/>
          <a:lstStyle/>
          <a:p>
            <a:pPr>
              <a:defRPr/>
            </a:pPr>
            <a:r>
              <a:rPr/>
              <a:t>Demanda máxima</a:t>
            </a:r>
            <a:endParaRPr/>
          </a:p>
        </p:txBody>
      </p:sp>
      <p:sp>
        <p:nvSpPr>
          <p:cNvPr id="27540196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5000" lnSpcReduction="3000"/>
          </a:bodyPr>
          <a:lstStyle/>
          <a:p>
            <a:pPr>
              <a:defRPr/>
            </a:pPr>
            <a:r>
              <a:rPr lang="pt-BR"/>
              <a:t>Potência nominal</a:t>
            </a:r>
            <a:endParaRPr/>
          </a:p>
          <a:p>
            <a:pPr lvl="1">
              <a:defRPr/>
            </a:pPr>
            <a:r>
              <a:rPr lang="pt-BR"/>
              <a:t>Fornecida pela fabricante do equipamento ou, na ausência dessa informação, é possível considerar a potência da tomada especificada no projeto, conforme a NBR 5410</a:t>
            </a:r>
            <a:endParaRPr/>
          </a:p>
          <a:p>
            <a:pPr>
              <a:defRPr/>
            </a:pPr>
            <a:r>
              <a:rPr lang="pt-BR"/>
              <a:t>Demanda média</a:t>
            </a:r>
            <a:endParaRPr/>
          </a:p>
          <a:p>
            <a:pPr lvl="1">
              <a:defRPr/>
            </a:pPr>
            <a:r>
              <a:rPr lang="pt-BR"/>
              <a:t>Potência consumida pelo aparelho em um período de tempo</a:t>
            </a:r>
            <a:endParaRPr/>
          </a:p>
          <a:p>
            <a:pPr>
              <a:defRPr/>
            </a:pPr>
            <a:r>
              <a:rPr lang="pt-BR"/>
              <a:t>Demanda máxima</a:t>
            </a:r>
            <a:endParaRPr/>
          </a:p>
          <a:p>
            <a:pPr lvl="1">
              <a:defRPr/>
            </a:pPr>
            <a:r>
              <a:rPr lang="pt-BR"/>
              <a:t>Maior valor de potência consumida por um equipamento em um período de tempo</a:t>
            </a:r>
            <a:endParaRPr/>
          </a:p>
        </p:txBody>
      </p:sp>
      <p:sp>
        <p:nvSpPr>
          <p:cNvPr id="8395925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AD6AAA2-58AA-93CE-B348-E7B802DA9E88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7843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Curva da demanda diária</a:t>
            </a:r>
            <a:endParaRPr/>
          </a:p>
        </p:txBody>
      </p:sp>
      <p:sp>
        <p:nvSpPr>
          <p:cNvPr id="12028763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A665E9F-BAFB-5129-3C89-BB0F316A35FB}" type="slidenum">
              <a:rPr lang="en-US"/>
              <a:t>8</a:t>
            </a:fld>
            <a:endParaRPr lang="en-US"/>
          </a:p>
        </p:txBody>
      </p:sp>
      <p:pic>
        <p:nvPicPr>
          <p:cNvPr id="1355129192" name="Picture 37219932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3099" y="1662205"/>
            <a:ext cx="8724899" cy="5200650"/>
          </a:xfrm>
          <a:prstGeom prst="rect">
            <a:avLst/>
          </a:prstGeom>
        </p:spPr>
      </p:pic>
      <p:cxnSp>
        <p:nvCxnSpPr>
          <p:cNvPr id="1821728080" name="Straight Connector 1231226543"/>
          <p:cNvCxnSpPr/>
          <p:nvPr/>
        </p:nvCxnSpPr>
        <p:spPr bwMode="auto">
          <a:xfrm flipH="1">
            <a:off x="5105149" y="3170261"/>
            <a:ext cx="255894" cy="241678"/>
          </a:xfrm>
          <a:prstGeom prst="line">
            <a:avLst/>
          </a:prstGeom>
          <a:noFill/>
          <a:ln>
            <a:tailEnd type="arrow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81578726" name="Straight Connector 148508162"/>
          <p:cNvCxnSpPr/>
          <p:nvPr/>
        </p:nvCxnSpPr>
        <p:spPr bwMode="auto">
          <a:xfrm flipH="1">
            <a:off x="5076716" y="4378656"/>
            <a:ext cx="241678" cy="255894"/>
          </a:xfrm>
          <a:prstGeom prst="line">
            <a:avLst/>
          </a:prstGeom>
          <a:noFill/>
          <a:ln>
            <a:tailEnd type="arrow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2533741" name="Straight Connector 931536814"/>
          <p:cNvCxnSpPr/>
          <p:nvPr/>
        </p:nvCxnSpPr>
        <p:spPr bwMode="auto">
          <a:xfrm flipH="1">
            <a:off x="6853768" y="5786082"/>
            <a:ext cx="298544" cy="199029"/>
          </a:xfrm>
          <a:prstGeom prst="line">
            <a:avLst/>
          </a:prstGeom>
          <a:noFill/>
          <a:ln>
            <a:tailEnd type="arrow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930394" name="TextBox 1286348818"/>
          <p:cNvSpPr txBox="1"/>
          <p:nvPr/>
        </p:nvSpPr>
        <p:spPr bwMode="auto">
          <a:xfrm>
            <a:off x="2062835" y="1691753"/>
            <a:ext cx="237882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D = demanda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29723" name="Title 1"/>
          <p:cNvSpPr>
            <a:spLocks noGrp="1"/>
          </p:cNvSpPr>
          <p:nvPr>
            <p:ph type="title"/>
          </p:nvPr>
        </p:nvSpPr>
        <p:spPr bwMode="auto">
          <a:xfrm>
            <a:off x="288000" y="291779"/>
            <a:ext cx="8647919" cy="652627"/>
          </a:xfrm>
        </p:spPr>
        <p:txBody>
          <a:bodyPr/>
          <a:lstStyle/>
          <a:p>
            <a:pPr>
              <a:defRPr/>
            </a:pPr>
            <a:r>
              <a:rPr/>
              <a:t>Fator de demanda (FD)</a:t>
            </a:r>
            <a:endParaRPr/>
          </a:p>
        </p:txBody>
      </p:sp>
      <p:sp>
        <p:nvSpPr>
          <p:cNvPr id="138009453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Fatores que influenciam o valor da demanda</a:t>
            </a:r>
            <a:endParaRPr/>
          </a:p>
          <a:p>
            <a:pPr lvl="1">
              <a:defRPr/>
            </a:pPr>
            <a:r>
              <a:rPr lang="pt-BR"/>
              <a:t>horário</a:t>
            </a:r>
            <a:endParaRPr/>
          </a:p>
          <a:p>
            <a:pPr lvl="1">
              <a:defRPr/>
            </a:pPr>
            <a:r>
              <a:rPr lang="pt-BR"/>
              <a:t>tipo de instalação</a:t>
            </a:r>
            <a:endParaRPr/>
          </a:p>
          <a:p>
            <a:pPr lvl="1">
              <a:defRPr/>
            </a:pPr>
            <a:r>
              <a:rPr lang="pt-BR"/>
              <a:t>equipamentos conectados</a:t>
            </a:r>
            <a:endParaRPr/>
          </a:p>
          <a:p>
            <a:pPr>
              <a:defRPr/>
            </a:pPr>
            <a:r>
              <a:rPr lang="pt-BR"/>
              <a:t> Fator de demanda (FD)</a:t>
            </a:r>
            <a:endParaRPr/>
          </a:p>
        </p:txBody>
      </p:sp>
      <p:sp>
        <p:nvSpPr>
          <p:cNvPr id="13576884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C8FB64-61BB-F615-5769-17A3BB638BB5}" type="slidenum">
              <a:rPr lang="en-US"/>
              <a:t>9</a:t>
            </a:fld>
            <a:endParaRPr lang="en-US"/>
          </a:p>
        </p:txBody>
      </p:sp>
      <p:pic>
        <p:nvPicPr>
          <p:cNvPr id="489801773" name="Picture 27977728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193676" y="4669117"/>
            <a:ext cx="1647824" cy="1009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3634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Exemplo</a:t>
            </a:r>
            <a:endParaRPr/>
          </a:p>
        </p:txBody>
      </p:sp>
      <p:sp>
        <p:nvSpPr>
          <p:cNvPr id="209184500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Calcule o fator de demanda para uma instalação elétrica que apresenta as seguintes cargas, com uma demanda máxima de 4500 W no período diurno e 2000 W no período noturno</a:t>
            </a:r>
            <a:endParaRPr/>
          </a:p>
        </p:txBody>
      </p:sp>
      <p:sp>
        <p:nvSpPr>
          <p:cNvPr id="2701320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160663-0CB1-77AF-40CF-0CA92C901987}" type="slidenum">
              <a:rPr lang="en-US"/>
              <a:t>10</a:t>
            </a:fld>
            <a:endParaRPr lang="en-US"/>
          </a:p>
        </p:txBody>
      </p:sp>
      <p:pic>
        <p:nvPicPr>
          <p:cNvPr id="242378736" name="Picture 4078523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4264" y="3429000"/>
            <a:ext cx="7677149" cy="2886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54133" name="Title 1"/>
          <p:cNvSpPr>
            <a:spLocks noGrp="1"/>
          </p:cNvSpPr>
          <p:nvPr>
            <p:ph type="title"/>
          </p:nvPr>
        </p:nvSpPr>
        <p:spPr bwMode="auto">
          <a:xfrm>
            <a:off x="288000" y="291779"/>
            <a:ext cx="8647919" cy="652627"/>
          </a:xfrm>
        </p:spPr>
        <p:txBody>
          <a:bodyPr/>
          <a:lstStyle/>
          <a:p>
            <a:pPr>
              <a:defRPr/>
            </a:pPr>
            <a:r>
              <a:rPr/>
              <a:t>Exemplo (continuação)</a:t>
            </a:r>
            <a:endParaRPr/>
          </a:p>
        </p:txBody>
      </p:sp>
      <p:sp>
        <p:nvSpPr>
          <p:cNvPr id="197711033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0629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97DF10-9CE6-9D77-78A2-DAAF19ADE2E1}" type="slidenum">
              <a:rPr lang="en-US"/>
              <a:t>11</a:t>
            </a:fld>
            <a:endParaRPr lang="en-US"/>
          </a:p>
        </p:txBody>
      </p:sp>
      <p:pic>
        <p:nvPicPr>
          <p:cNvPr id="1155141956" name="Picture 143926626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885930" y="2183393"/>
            <a:ext cx="4523761" cy="730972"/>
          </a:xfrm>
          <a:prstGeom prst="rect">
            <a:avLst/>
          </a:prstGeom>
        </p:spPr>
      </p:pic>
      <p:pic>
        <p:nvPicPr>
          <p:cNvPr id="635675266" name="Picture 96908711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749062" y="3882396"/>
            <a:ext cx="2714625" cy="20383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897349" name="Title 1"/>
          <p:cNvSpPr>
            <a:spLocks noGrp="1"/>
          </p:cNvSpPr>
          <p:nvPr>
            <p:ph type="title"/>
          </p:nvPr>
        </p:nvSpPr>
        <p:spPr bwMode="auto">
          <a:xfrm>
            <a:off x="288000" y="290339"/>
            <a:ext cx="8645039" cy="652627"/>
          </a:xfrm>
        </p:spPr>
        <p:txBody>
          <a:bodyPr/>
          <a:lstStyle/>
          <a:p>
            <a:pPr>
              <a:defRPr/>
            </a:pPr>
            <a:r>
              <a:rPr/>
              <a:t>FD sugerido</a:t>
            </a:r>
            <a:endParaRPr/>
          </a:p>
        </p:txBody>
      </p:sp>
      <p:sp>
        <p:nvSpPr>
          <p:cNvPr id="181793354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Em muitos casos não temos acesso à demanda máxima de uma instalação elétrica</a:t>
            </a:r>
            <a:endParaRPr/>
          </a:p>
          <a:p>
            <a:pPr lvl="1">
              <a:defRPr/>
            </a:pPr>
            <a:r>
              <a:rPr lang="pt-BR"/>
              <a:t>Seria necessário a instalação de registradores</a:t>
            </a:r>
            <a:endParaRPr/>
          </a:p>
          <a:p>
            <a:pPr>
              <a:defRPr/>
            </a:pPr>
            <a:r>
              <a:rPr lang="pt-BR"/>
              <a:t>As distribuidoras locais, por meio de suas normas, sugerem os valores para os fatores de demanda</a:t>
            </a:r>
            <a:endParaRPr/>
          </a:p>
        </p:txBody>
      </p:sp>
      <p:sp>
        <p:nvSpPr>
          <p:cNvPr id="14407385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8110A1C-5258-2D36-3DD2-54B9498F8A41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16229" name="Title 1"/>
          <p:cNvSpPr>
            <a:spLocks noGrp="1"/>
          </p:cNvSpPr>
          <p:nvPr>
            <p:ph type="title"/>
          </p:nvPr>
        </p:nvSpPr>
        <p:spPr bwMode="auto">
          <a:xfrm>
            <a:off x="288000" y="289979"/>
            <a:ext cx="8644319" cy="652627"/>
          </a:xfrm>
        </p:spPr>
        <p:txBody>
          <a:bodyPr/>
          <a:lstStyle/>
          <a:p>
            <a:pPr>
              <a:defRPr/>
            </a:pPr>
            <a:r>
              <a:rPr/>
              <a:t>FD sugerido</a:t>
            </a:r>
            <a:endParaRPr/>
          </a:p>
        </p:txBody>
      </p:sp>
      <p:sp>
        <p:nvSpPr>
          <p:cNvPr id="7619068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944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7FEC7A-23C7-5DE8-A47A-1022000A28B3}" type="slidenum">
              <a:rPr lang="en-US"/>
              <a:t>13</a:t>
            </a:fld>
            <a:endParaRPr lang="en-US"/>
          </a:p>
        </p:txBody>
      </p:sp>
      <p:pic>
        <p:nvPicPr>
          <p:cNvPr id="218598000" name="Picture 205178079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82058" y="2152648"/>
            <a:ext cx="6252455" cy="4507350"/>
          </a:xfrm>
          <a:prstGeom prst="rect">
            <a:avLst/>
          </a:prstGeom>
        </p:spPr>
      </p:pic>
      <p:sp>
        <p:nvSpPr>
          <p:cNvPr id="1353957541" name="TextBox 214047576"/>
          <p:cNvSpPr txBox="1"/>
          <p:nvPr/>
        </p:nvSpPr>
        <p:spPr bwMode="auto">
          <a:xfrm>
            <a:off x="844556" y="1490410"/>
            <a:ext cx="791019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18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fatores de demanda para chuveiros, aquecedores de água e ferro de passar</a:t>
            </a:r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997278" name="Title 1"/>
          <p:cNvSpPr>
            <a:spLocks noGrp="1"/>
          </p:cNvSpPr>
          <p:nvPr>
            <p:ph type="title"/>
          </p:nvPr>
        </p:nvSpPr>
        <p:spPr bwMode="auto">
          <a:xfrm>
            <a:off x="288000" y="290519"/>
            <a:ext cx="8645399" cy="652627"/>
          </a:xfrm>
        </p:spPr>
        <p:txBody>
          <a:bodyPr/>
          <a:lstStyle/>
          <a:p>
            <a:pPr algn="r">
              <a:defRPr/>
            </a:pPr>
            <a:r>
              <a:rPr/>
              <a:t>FD sugerido</a:t>
            </a:r>
            <a:endParaRPr/>
          </a:p>
        </p:txBody>
      </p:sp>
      <p:sp>
        <p:nvSpPr>
          <p:cNvPr id="31387859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3192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2A75893-C14B-8B5A-CF91-3741CA225B06}" type="slidenum">
              <a:rPr lang="en-US"/>
              <a:t>14</a:t>
            </a:fld>
            <a:endParaRPr lang="en-US"/>
          </a:p>
        </p:txBody>
      </p:sp>
      <p:pic>
        <p:nvPicPr>
          <p:cNvPr id="1073180797" name="Picture 19200370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02287" y="108000"/>
            <a:ext cx="6000750" cy="3562349"/>
          </a:xfrm>
          <a:prstGeom prst="rect">
            <a:avLst/>
          </a:prstGeom>
        </p:spPr>
      </p:pic>
      <p:pic>
        <p:nvPicPr>
          <p:cNvPr id="388014763" name="Picture 211110486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8000" y="3907274"/>
            <a:ext cx="6029324" cy="2752723"/>
          </a:xfrm>
          <a:prstGeom prst="rect">
            <a:avLst/>
          </a:prstGeom>
        </p:spPr>
      </p:pic>
      <p:sp>
        <p:nvSpPr>
          <p:cNvPr id="1824316099" name="TextBox 1435733601"/>
          <p:cNvSpPr txBox="1"/>
          <p:nvPr/>
        </p:nvSpPr>
        <p:spPr bwMode="auto">
          <a:xfrm>
            <a:off x="6450286" y="1638621"/>
            <a:ext cx="2355033" cy="1920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>
                <a:solidFill>
                  <a:srgbClr val="C00000"/>
                </a:solidFill>
              </a:rPr>
              <a:t>Fatores de potência para chuveiros, aquecedores de água e ferro de passar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51263940" name="TextBox 1963900159"/>
          <p:cNvSpPr txBox="1"/>
          <p:nvPr/>
        </p:nvSpPr>
        <p:spPr bwMode="auto">
          <a:xfrm>
            <a:off x="6511070" y="4558392"/>
            <a:ext cx="2384128" cy="2225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Fatores de demanda de secadora de roupa, forno elétrico, máquina de lavar louça e forno micro-ondas</a:t>
            </a:r>
            <a:endParaRPr sz="200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662328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5000"/>
          </a:bodyPr>
          <a:lstStyle/>
          <a:p>
            <a:pPr>
              <a:defRPr/>
            </a:pPr>
            <a:r>
              <a:rPr lang="pt-BR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Cálculo de demanda para residências individuais</a:t>
            </a:r>
            <a:endParaRPr/>
          </a:p>
        </p:txBody>
      </p:sp>
      <p:sp>
        <p:nvSpPr>
          <p:cNvPr id="33523492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 cálculo da demanda varia conforme a concessionaria local</a:t>
            </a:r>
            <a:endParaRPr lang="pt-BR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Ele é necessário para o dimensionamento dos condutores e dispositivos de proteção da entrada de uma residência</a:t>
            </a:r>
            <a:endParaRPr/>
          </a:p>
        </p:txBody>
      </p:sp>
      <p:sp>
        <p:nvSpPr>
          <p:cNvPr id="11330808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15875D4-5F8E-846E-454B-126679CF4F0B}" type="slidenum">
              <a:rPr lang="en-US"/>
              <a:t>15</a:t>
            </a:fld>
            <a:endParaRPr lang="en-US"/>
          </a:p>
        </p:txBody>
      </p:sp>
      <p:sp>
        <p:nvSpPr>
          <p:cNvPr id="1441717787" name="TextBox 2128646709"/>
          <p:cNvSpPr txBox="1"/>
          <p:nvPr/>
        </p:nvSpPr>
        <p:spPr bwMode="auto">
          <a:xfrm flipH="0" flipV="0">
            <a:off x="1366231" y="4972091"/>
            <a:ext cx="7025790" cy="15266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spcBef>
                <a:spcPts val="566"/>
              </a:spcBef>
              <a:defRPr/>
            </a:pPr>
            <a:r>
              <a:rPr lang="pt-B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Onde: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spcBef>
                <a:spcPts val="566"/>
              </a:spcBef>
              <a:defRPr/>
            </a:pPr>
            <a:r>
              <a:rPr lang="pt-B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 : demanda total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spcBef>
                <a:spcPts val="566"/>
              </a:spcBef>
              <a:defRPr/>
            </a:pPr>
            <a:r>
              <a:rPr lang="pt-B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 : </a:t>
            </a:r>
            <a:r>
              <a:rPr lang="pt-B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fator de demanda (conforme norma da distribuidora)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spcBef>
                <a:spcPts val="566"/>
              </a:spcBef>
              <a:defRPr/>
            </a:pPr>
            <a:r>
              <a:rPr lang="pt-B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 :  potência total dos aparelhos em VA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1616058103" name=""/>
          <p:cNvSpPr/>
          <p:nvPr/>
        </p:nvSpPr>
        <p:spPr bwMode="auto">
          <a:xfrm flipH="0" flipV="0">
            <a:off x="2281284" y="3668255"/>
            <a:ext cx="4203948" cy="76348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sz="2800">
                          <a:latin typeface="Cambria Math"/>
                          <a:ea typeface="Cambria Math"/>
                          <a:cs typeface="Cambria Math"/>
                        </a:rPr>
                        <m:t>D=</m:t>
                      </m:r>
                      <m:nary>
                        <m:naryPr>
                          <m:chr m:val="∑"/>
                          <m:grow m:val="off"/>
                          <m:subHide m:val="on"/>
                          <m:supHide m:val="on"/>
                          <m:ctrlPr>
                            <a:rPr sz="28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sz="2800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sz="28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m:rPr/>
                                <a:rPr sz="28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</m:e>
                      </m:nary>
                      <m:r>
                        <m:rPr/>
                        <a:rPr sz="2800"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sSub>
                        <m:sSubPr>
                          <m:ctrlPr>
                            <a:rPr sz="28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sz="2800"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/>
                            <a:rPr sz="2800"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0959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Exemplo</a:t>
            </a:r>
            <a:endParaRPr/>
          </a:p>
        </p:txBody>
      </p:sp>
      <p:sp>
        <p:nvSpPr>
          <p:cNvPr id="16037523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Calcule a demanda para uma residência com 40 m2 de área construída, contendo um quarto, uma sala, uma cozinha e um banheiro. Considere o fator de potência um para todas as cargas</a:t>
            </a:r>
            <a:endParaRPr/>
          </a:p>
        </p:txBody>
      </p:sp>
      <p:sp>
        <p:nvSpPr>
          <p:cNvPr id="8267040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6805B39-FBB0-0E29-9039-018F82070591}" type="slidenum">
              <a:rPr lang="en-US"/>
              <a:t>16</a:t>
            </a:fld>
            <a:endParaRPr lang="en-US"/>
          </a:p>
        </p:txBody>
      </p:sp>
      <p:pic>
        <p:nvPicPr>
          <p:cNvPr id="1002920575" name="Picture 60839722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66964" y="3220356"/>
            <a:ext cx="7677149" cy="29336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6773" name="Title 1"/>
          <p:cNvSpPr>
            <a:spLocks noGrp="1"/>
          </p:cNvSpPr>
          <p:nvPr>
            <p:ph type="title"/>
          </p:nvPr>
        </p:nvSpPr>
        <p:spPr bwMode="auto">
          <a:xfrm>
            <a:off x="288000" y="292499"/>
            <a:ext cx="8649359" cy="652627"/>
          </a:xfrm>
        </p:spPr>
        <p:txBody>
          <a:bodyPr/>
          <a:lstStyle/>
          <a:p>
            <a:pPr>
              <a:defRPr/>
            </a:pPr>
            <a:r>
              <a:rPr/>
              <a:t>Exemplo (continuação)</a:t>
            </a:r>
            <a:endParaRPr/>
          </a:p>
        </p:txBody>
      </p:sp>
      <p:sp>
        <p:nvSpPr>
          <p:cNvPr id="192879617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Usando:</a:t>
            </a:r>
            <a:endParaRPr/>
          </a:p>
        </p:txBody>
      </p:sp>
      <p:sp>
        <p:nvSpPr>
          <p:cNvPr id="7333179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CB16C4B-CDA5-9575-396D-C9DB7ED644F5}" type="slidenum">
              <a:rPr lang="en-US"/>
              <a:t>17</a:t>
            </a:fld>
            <a:endParaRPr lang="en-US"/>
          </a:p>
        </p:txBody>
      </p:sp>
      <p:pic>
        <p:nvPicPr>
          <p:cNvPr id="944004417" name="Picture 51631385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30892" y="2583149"/>
            <a:ext cx="7677149" cy="1466849"/>
          </a:xfrm>
          <a:prstGeom prst="rect">
            <a:avLst/>
          </a:prstGeom>
        </p:spPr>
      </p:pic>
      <p:pic>
        <p:nvPicPr>
          <p:cNvPr id="510035858" name="Picture 47530481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73855" y="4331607"/>
            <a:ext cx="5991224" cy="1647824"/>
          </a:xfrm>
          <a:prstGeom prst="rect">
            <a:avLst/>
          </a:prstGeom>
        </p:spPr>
      </p:pic>
      <p:pic>
        <p:nvPicPr>
          <p:cNvPr id="466277489" name="Picture 10686208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25714" y="6213928"/>
            <a:ext cx="7496174" cy="609599"/>
          </a:xfrm>
          <a:prstGeom prst="rect">
            <a:avLst/>
          </a:prstGeom>
        </p:spPr>
      </p:pic>
      <p:sp>
        <p:nvSpPr>
          <p:cNvPr id="672595633" name=""/>
          <p:cNvSpPr/>
          <p:nvPr/>
        </p:nvSpPr>
        <p:spPr bwMode="auto">
          <a:xfrm flipH="0" flipV="0">
            <a:off x="2060989" y="1298080"/>
            <a:ext cx="2682345" cy="61955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sz="2200">
                          <a:latin typeface="Cambria Math"/>
                          <a:ea typeface="Cambria Math"/>
                          <a:cs typeface="Cambria Math"/>
                        </a:rPr>
                        <m:t>D=</m:t>
                      </m:r>
                      <m:nary>
                        <m:naryPr>
                          <m:chr m:val="∑"/>
                          <m:grow m:val="off"/>
                          <m:subHide m:val="on"/>
                          <m:supHide m:val="on"/>
                          <m:ctrlPr>
                            <a:rPr sz="22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sz="2200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sz="22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m:rPr/>
                                <a:rPr sz="22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</m:e>
                      </m:nary>
                      <m:r>
                        <m:rPr/>
                        <a:rPr sz="2200"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sSub>
                        <m:sSubPr>
                          <m:ctrlPr>
                            <a:rPr sz="22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sz="2200"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/>
                            <a:rPr sz="2200"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2200">
              <a:latin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2639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Demanda total de um edifício de uso coletivo</a:t>
            </a:r>
            <a:endParaRPr/>
          </a:p>
        </p:txBody>
      </p:sp>
      <p:sp>
        <p:nvSpPr>
          <p:cNvPr id="190898735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Procedimentos</a:t>
            </a:r>
            <a:endParaRPr/>
          </a:p>
          <a:p>
            <a:pPr lvl="1">
              <a:defRPr/>
            </a:pPr>
            <a:r>
              <a:rPr lang="pt-BR"/>
              <a:t>Diretrizes da Resolução Normativa ANEEL nº 1.000/2021</a:t>
            </a:r>
            <a:endParaRPr/>
          </a:p>
          <a:p>
            <a:pPr lvl="1">
              <a:defRPr/>
            </a:pPr>
            <a:r>
              <a:rPr lang="pt-BR"/>
              <a:t>Procedimentos de Distribuição (Prodist)</a:t>
            </a:r>
            <a:endParaRPr/>
          </a:p>
          <a:p>
            <a:pPr lvl="2">
              <a:defRPr/>
            </a:pPr>
            <a:r>
              <a:rPr lang="pt-BR"/>
              <a:t>Que substituem as antigas padronizações do Comitê de Distribuição de Energia Elétrica (Codi)</a:t>
            </a:r>
            <a:endParaRPr/>
          </a:p>
          <a:p>
            <a:pPr>
              <a:defRPr/>
            </a:pPr>
            <a:r>
              <a:rPr lang="pt-BR"/>
              <a:t>A metodologia de cálculo e execução segue as normas específicas de cada distribuidora conforme a área de atuação</a:t>
            </a:r>
            <a:endParaRPr/>
          </a:p>
        </p:txBody>
      </p:sp>
      <p:sp>
        <p:nvSpPr>
          <p:cNvPr id="9042570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225A09C-7CC6-587F-16A7-97979EC898C6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4762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Especificações técnicas por distribuidora</a:t>
            </a:r>
            <a:endParaRPr/>
          </a:p>
        </p:txBody>
      </p:sp>
      <p:sp>
        <p:nvSpPr>
          <p:cNvPr id="83894842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Distribuidora Neoenergia Elektro (antiga distribuidora Elektro)</a:t>
            </a:r>
            <a:endParaRPr lang="pt-BR"/>
          </a:p>
          <a:p>
            <a:pPr lvl="1">
              <a:defRPr/>
            </a:pPr>
            <a:r>
              <a:rPr lang="pt-BR"/>
              <a:t>DIS-NOR-030 2025 em substituição à ND.10</a:t>
            </a:r>
            <a:endParaRPr lang="pt-BR"/>
          </a:p>
          <a:p>
            <a:pPr lvl="1">
              <a:defRPr/>
            </a:pPr>
            <a:r>
              <a:rPr lang="pt-BR"/>
              <a:t>DIS-NOR-053 2025 em substituição à ND.26</a:t>
            </a:r>
            <a:endParaRPr lang="pt-BR"/>
          </a:p>
          <a:p>
            <a:pPr>
              <a:defRPr/>
            </a:pPr>
            <a:r>
              <a:rPr lang="pt-BR"/>
              <a:t>Distribuidora Enel Distribuição São Paulo (antiga Eletropaulo)</a:t>
            </a:r>
            <a:endParaRPr lang="pt-BR"/>
          </a:p>
          <a:p>
            <a:pPr lvl="1">
              <a:defRPr/>
            </a:pPr>
            <a:r>
              <a:rPr lang="pt-BR"/>
              <a:t>Especificação Técnica nº 0017 2025 (GRI-EDBR-CNC-GRI-0017) e</a:t>
            </a:r>
            <a:endParaRPr lang="pt-BR"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pt-BR"/>
              <a:t>ET nº 0018 (GRI-EDBR-CNC-GRI-0018), substituindo a LIG BT</a:t>
            </a:r>
            <a:endParaRPr/>
          </a:p>
        </p:txBody>
      </p:sp>
      <p:sp>
        <p:nvSpPr>
          <p:cNvPr id="11836509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55F0345-947B-1A5A-5283-3946FC952208}" type="slidenum">
              <a:rPr lang="en-US"/>
              <a:t>19</a:t>
            </a:fld>
            <a:endParaRPr lang="en-US"/>
          </a:p>
        </p:txBody>
      </p:sp>
      <p:sp>
        <p:nvSpPr>
          <p:cNvPr id="696987614" name=""/>
          <p:cNvSpPr txBox="1"/>
          <p:nvPr/>
        </p:nvSpPr>
        <p:spPr bwMode="auto">
          <a:xfrm rot="0" flipH="0" flipV="0">
            <a:off x="2208573" y="5558619"/>
            <a:ext cx="480353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solidFill>
                  <a:srgbClr val="C00000"/>
                </a:solidFill>
              </a:rPr>
              <a:t>(Normas já vistas no Slide 2)</a:t>
            </a:r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030295" name="Title 1"/>
          <p:cNvSpPr>
            <a:spLocks noGrp="1"/>
          </p:cNvSpPr>
          <p:nvPr>
            <p:ph type="title"/>
          </p:nvPr>
        </p:nvSpPr>
        <p:spPr bwMode="auto">
          <a:xfrm>
            <a:off x="288000" y="324932"/>
            <a:ext cx="8641080" cy="579479"/>
          </a:xfrm>
        </p:spPr>
        <p:txBody>
          <a:bodyPr/>
          <a:lstStyle/>
          <a:p>
            <a:pPr>
              <a:defRPr/>
            </a:pPr>
            <a:r>
              <a:rPr lang="pt-BR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Método</a:t>
            </a:r>
            <a:endParaRPr/>
          </a:p>
        </p:txBody>
      </p:sp>
      <p:sp>
        <p:nvSpPr>
          <p:cNvPr id="60578956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Nas revisões atuais (2025) das normas Neoenergia e Enel, o método de cálculo foi alterado</a:t>
            </a:r>
            <a:endParaRPr/>
          </a:p>
          <a:p>
            <a:pPr lvl="1">
              <a:defRPr/>
            </a:pPr>
            <a:r>
              <a:rPr lang="pt-BR"/>
              <a:t>As tabelas e fórmulas das revisões anteriores das normas, que estão no livro-texto, não devem ser utilizadas</a:t>
            </a:r>
            <a:endParaRPr/>
          </a:p>
          <a:p>
            <a:pPr>
              <a:defRPr/>
            </a:pPr>
            <a:r>
              <a:rPr lang="pt-BR"/>
              <a:t>Métodos antigos não devem ser utilizados em novos projetos</a:t>
            </a:r>
            <a:endParaRPr/>
          </a:p>
          <a:p>
            <a:pPr>
              <a:defRPr/>
            </a:pPr>
            <a:r>
              <a:rPr lang="pt-BR"/>
              <a:t>Devem ser seguidas sempre as revisões mais atuais da normas</a:t>
            </a:r>
            <a:endParaRPr/>
          </a:p>
          <a:p>
            <a:pPr>
              <a:defRPr/>
            </a:pPr>
            <a:r>
              <a:rPr lang="pt-BR"/>
              <a:t>Ao iniciar um projeto é necessário sempre verificar se as normas foram atualizadas</a:t>
            </a:r>
            <a:endParaRPr/>
          </a:p>
        </p:txBody>
      </p:sp>
      <p:sp>
        <p:nvSpPr>
          <p:cNvPr id="1102493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7A6ADF-B02D-8C3D-0318-DBF2B6ED062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298297" name="Title 1"/>
          <p:cNvSpPr>
            <a:spLocks noGrp="1"/>
          </p:cNvSpPr>
          <p:nvPr>
            <p:ph type="title"/>
          </p:nvPr>
        </p:nvSpPr>
        <p:spPr bwMode="auto">
          <a:xfrm>
            <a:off x="288000" y="606066"/>
            <a:ext cx="8642518" cy="57947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>
              <a:defRPr/>
            </a:pPr>
            <a:r>
              <a:rPr lang="pt-BR"/>
              <a:t>Metodologia Neoenergia Elektro</a:t>
            </a:r>
            <a:endParaRPr lang="pt-BR"/>
          </a:p>
        </p:txBody>
      </p:sp>
      <p:sp>
        <p:nvSpPr>
          <p:cNvPr id="156561968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pt-BR"/>
              <a:t>Para projetos nesta área de concessão, o cálculo deve detalhar as cargas instaladas e aplicar os fatores da norma </a:t>
            </a:r>
            <a:r>
              <a:rPr lang="pt-BR"/>
              <a:t>DIS-NOR-031</a:t>
            </a:r>
            <a:endParaRPr/>
          </a:p>
          <a:p>
            <a:pPr>
              <a:defRPr/>
            </a:pPr>
            <a:r>
              <a:rPr lang="pt-BR"/>
              <a:t>Cálculo da Demanda dos Apartamentos (</a:t>
            </a:r>
            <a:r>
              <a:rPr lang="pt-BR"/>
              <a:t>D</a:t>
            </a:r>
            <a:r>
              <a:rPr lang="pt-BR"/>
              <a:t>aptos</a:t>
            </a:r>
            <a:r>
              <a:rPr lang="pt-BR"/>
              <a:t>)</a:t>
            </a:r>
            <a:endParaRPr/>
          </a:p>
          <a:p>
            <a:pPr lvl="1">
              <a:defRPr/>
            </a:pPr>
            <a:r>
              <a:rPr lang="pt-BR"/>
              <a:t>Não se utiliza uma tabela de demanda por área pronta. O cálculo é feito em três etapas:</a:t>
            </a:r>
            <a:endParaRPr/>
          </a:p>
          <a:p>
            <a:pPr marL="1198279" lvl="2" indent="-283879">
              <a:buFont typeface="Arial"/>
              <a:buAutoNum type="arabicPeriod"/>
              <a:defRPr/>
            </a:pPr>
            <a:r>
              <a:rPr lang="pt-BR"/>
              <a:t>Carga de iluminação e tomadas</a:t>
            </a:r>
            <a:endParaRPr/>
          </a:p>
          <a:p>
            <a:pPr lvl="3">
              <a:defRPr/>
            </a:pPr>
            <a:r>
              <a:rPr lang="pt-BR"/>
              <a:t>Considera-se 5 W por metro quadrado de área construída de cada apartamento</a:t>
            </a:r>
            <a:endParaRPr/>
          </a:p>
        </p:txBody>
      </p:sp>
      <p:sp>
        <p:nvSpPr>
          <p:cNvPr id="13779601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4ABDBC7-8798-F930-0154-B867DC3C76B8}" type="slidenum">
              <a:rPr lang="en-US"/>
              <a:t>21</a:t>
            </a:fld>
            <a:endParaRPr lang="en-US"/>
          </a:p>
        </p:txBody>
      </p:sp>
      <p:sp>
        <p:nvSpPr>
          <p:cNvPr id="739322892" name=""/>
          <p:cNvSpPr txBox="1"/>
          <p:nvPr/>
        </p:nvSpPr>
        <p:spPr bwMode="auto">
          <a:xfrm rot="0" flipH="0" flipV="0">
            <a:off x="3007212" y="6056193"/>
            <a:ext cx="320409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(continua)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788142" name="Title 1"/>
          <p:cNvSpPr>
            <a:spLocks noGrp="1"/>
          </p:cNvSpPr>
          <p:nvPr>
            <p:ph type="title"/>
          </p:nvPr>
        </p:nvSpPr>
        <p:spPr bwMode="auto">
          <a:xfrm>
            <a:off x="288000" y="288179"/>
            <a:ext cx="8640720" cy="652627"/>
          </a:xfrm>
        </p:spPr>
        <p:txBody>
          <a:bodyPr/>
          <a:lstStyle/>
          <a:p>
            <a:pPr>
              <a:defRPr/>
            </a:pPr>
            <a:r>
              <a:rPr lang="pt-BR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Metodologia Neoenergia Elektro</a:t>
            </a:r>
            <a:endParaRPr/>
          </a:p>
        </p:txBody>
      </p:sp>
      <p:sp>
        <p:nvSpPr>
          <p:cNvPr id="82564410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 marL="694943" marR="0" lvl="1" indent="-294893" algn="l" defTabSz="914400" rtl="0">
              <a:lnSpc>
                <a:spcPct val="113999"/>
              </a:lnSpc>
              <a:spcBef>
                <a:spcPts val="565"/>
              </a:spcBef>
              <a:spcAft>
                <a:spcPts val="0"/>
              </a:spcAft>
              <a:buFont typeface="Arial"/>
              <a:buAutoNum type="arabicPeriod" startAt="2"/>
              <a:defRPr/>
            </a:pPr>
            <a:r>
              <a:rPr lang="pt-BR"/>
              <a:t>Carga de aparelhos</a:t>
            </a:r>
            <a:endParaRPr/>
          </a:p>
          <a:p>
            <a:pPr lvl="2">
              <a:defRPr/>
            </a:pPr>
            <a:r>
              <a:rPr lang="pt-BR"/>
              <a:t>Soma-se a potência dos equipamentos (chuveiros, ar-condicionado, etc.) aplicando os Fatores de Demanda específicos da </a:t>
            </a:r>
            <a:r>
              <a:rPr lang="pt-BR"/>
              <a:t>norma DIS-NOR-031</a:t>
            </a:r>
            <a:r>
              <a:rPr lang="pt-BR"/>
              <a:t> (ex: para chuveiros, varia conforme a quantidade)</a:t>
            </a:r>
            <a:endParaRPr/>
          </a:p>
          <a:p>
            <a:pPr marL="752093" lvl="1" indent="-294893">
              <a:buFont typeface="Arial"/>
              <a:buAutoNum type="arabicPeriod" startAt="2"/>
              <a:defRPr/>
            </a:pPr>
            <a:r>
              <a:rPr lang="pt-BR"/>
              <a:t>Aplicação da simultaneidade</a:t>
            </a:r>
            <a:endParaRPr/>
          </a:p>
          <a:p>
            <a:pPr lvl="2">
              <a:defRPr/>
            </a:pPr>
            <a:r>
              <a:rPr lang="pt-BR"/>
              <a:t> Após somar a demanda de todos os apartamentos, aplica-se o </a:t>
            </a:r>
            <a:r>
              <a:rPr lang="pt-BR"/>
              <a:t>fator de coincidência (Quadro 36 da norma DIS-NOR-053)</a:t>
            </a:r>
            <a:r>
              <a:rPr lang="pt-BR"/>
              <a:t>, que varia conforme o número de unidades</a:t>
            </a:r>
            <a:endParaRPr/>
          </a:p>
          <a:p>
            <a:pPr>
              <a:defRPr/>
            </a:pPr>
            <a:r>
              <a:rPr lang="pt-BR"/>
              <a:t>D</a:t>
            </a:r>
            <a:r>
              <a:rPr lang="pt-BR"/>
              <a:t>aptos</a:t>
            </a:r>
            <a:r>
              <a:rPr lang="pt-BR"/>
              <a:t> = (Σ D</a:t>
            </a:r>
            <a:r>
              <a:rPr lang="pt-BR"/>
              <a:t>individual</a:t>
            </a:r>
            <a:r>
              <a:rPr lang="pt-BR"/>
              <a:t>) × Coeficiente de Simultaneidade</a:t>
            </a:r>
            <a:endParaRPr/>
          </a:p>
        </p:txBody>
      </p:sp>
      <p:sp>
        <p:nvSpPr>
          <p:cNvPr id="5772500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29E1A3-07EC-AD27-7267-7367497152BD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494540" name="Title 1"/>
          <p:cNvSpPr>
            <a:spLocks noGrp="1"/>
          </p:cNvSpPr>
          <p:nvPr>
            <p:ph type="title"/>
          </p:nvPr>
        </p:nvSpPr>
        <p:spPr bwMode="auto">
          <a:xfrm>
            <a:off x="288000" y="325472"/>
            <a:ext cx="8642159" cy="579479"/>
          </a:xfrm>
        </p:spPr>
        <p:txBody>
          <a:bodyPr/>
          <a:lstStyle/>
          <a:p>
            <a:pPr>
              <a:defRPr/>
            </a:pPr>
            <a:r>
              <a:rPr lang="pt-BR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Demanda do Condomínio / Administração</a:t>
            </a:r>
            <a:endParaRPr/>
          </a:p>
        </p:txBody>
      </p:sp>
      <p:sp>
        <p:nvSpPr>
          <p:cNvPr id="280159315" name="Content Placeholder 2"/>
          <p:cNvSpPr>
            <a:spLocks noGrp="1"/>
          </p:cNvSpPr>
          <p:nvPr>
            <p:ph idx="1"/>
          </p:nvPr>
        </p:nvSpPr>
        <p:spPr bwMode="auto">
          <a:xfrm>
            <a:off x="288000" y="1833917"/>
            <a:ext cx="8640000" cy="4826081"/>
          </a:xfrm>
        </p:spPr>
        <p:txBody>
          <a:bodyPr/>
          <a:lstStyle/>
          <a:p>
            <a:pPr>
              <a:defRPr/>
            </a:pPr>
            <a:r>
              <a:rPr lang="pt-BR"/>
              <a:t>Calculada separadamente, somando:</a:t>
            </a:r>
            <a:endParaRPr/>
          </a:p>
          <a:p>
            <a:pPr lvl="1">
              <a:defRPr/>
            </a:pPr>
            <a:r>
              <a:rPr lang="pt-BR"/>
              <a:t>Iluminação: fator de 1,0 (100%)</a:t>
            </a:r>
            <a:endParaRPr/>
          </a:p>
          <a:p>
            <a:pPr lvl="1">
              <a:defRPr/>
            </a:pPr>
            <a:r>
              <a:rPr lang="pt-BR"/>
              <a:t>Tomadas: fator de 0,50 (50%)</a:t>
            </a:r>
            <a:endParaRPr/>
          </a:p>
          <a:p>
            <a:pPr lvl="1">
              <a:defRPr/>
            </a:pPr>
            <a:r>
              <a:rPr lang="pt-BR"/>
              <a:t>Motores (Bombas/Elevadores): </a:t>
            </a:r>
            <a:r>
              <a:rPr lang="pt-BR" sz="2000" b="0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</a:rPr>
              <a:t>determina-se a demanda conforme a norma DIS-NOR-030</a:t>
            </a:r>
            <a:r>
              <a:rPr lang="pt-BR"/>
              <a:t> e aplica-se a regra:</a:t>
            </a:r>
            <a:endParaRPr/>
          </a:p>
          <a:p>
            <a:pPr lvl="2">
              <a:defRPr/>
            </a:pPr>
            <a:r>
              <a:rPr lang="pt-BR"/>
              <a:t>100% da potência do maior motor</a:t>
            </a:r>
            <a:endParaRPr/>
          </a:p>
          <a:p>
            <a:pPr lvl="2">
              <a:defRPr/>
            </a:pPr>
            <a:r>
              <a:rPr lang="pt-BR"/>
              <a:t>50% da potência dos demais motores</a:t>
            </a:r>
            <a:endParaRPr/>
          </a:p>
          <a:p>
            <a:pPr>
              <a:defRPr/>
            </a:pPr>
            <a:r>
              <a:rPr lang="pt-BR"/>
              <a:t>D</a:t>
            </a:r>
            <a:r>
              <a:rPr lang="pt-BR"/>
              <a:t>total</a:t>
            </a:r>
            <a:r>
              <a:rPr lang="pt-BR"/>
              <a:t> = D</a:t>
            </a:r>
            <a:r>
              <a:rPr lang="pt-BR"/>
              <a:t>aptos</a:t>
            </a:r>
            <a:r>
              <a:rPr lang="pt-BR"/>
              <a:t> + </a:t>
            </a: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DAdministracao</a:t>
            </a:r>
            <a:endParaRPr/>
          </a:p>
        </p:txBody>
      </p:sp>
      <p:sp>
        <p:nvSpPr>
          <p:cNvPr id="12007542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55A869-7428-0835-4F16-44A9259601D0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948325" name="Title 1"/>
          <p:cNvSpPr>
            <a:spLocks noGrp="1"/>
          </p:cNvSpPr>
          <p:nvPr>
            <p:ph type="title"/>
          </p:nvPr>
        </p:nvSpPr>
        <p:spPr bwMode="auto">
          <a:xfrm>
            <a:off x="288000" y="325652"/>
            <a:ext cx="8642518" cy="579479"/>
          </a:xfrm>
        </p:spPr>
        <p:txBody>
          <a:bodyPr/>
          <a:lstStyle/>
          <a:p>
            <a:pPr>
              <a:defRPr/>
            </a:pPr>
            <a:r>
              <a:rPr lang="pt-BR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Metodologia Enel Distribuição SP</a:t>
            </a:r>
            <a:endParaRPr lang="pt-BR" sz="3200" b="0" i="0" u="none" strike="noStrike" cap="none" spc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214900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A </a:t>
            </a:r>
            <a:r>
              <a:rPr lang="pt-BR"/>
              <a:t>Especificação Técnica nº 0018</a:t>
            </a:r>
            <a:r>
              <a:rPr lang="pt-BR"/>
              <a:t> aboliu o uso de fórmulas diretas de potência instalada</a:t>
            </a:r>
            <a:endParaRPr/>
          </a:p>
          <a:p>
            <a:pPr lvl="1">
              <a:defRPr/>
            </a:pPr>
            <a:r>
              <a:rPr lang="pt-BR"/>
              <a:t>O dimensionamento baseia-se na estimativa de consumo de energia (kWh) e no uso de </a:t>
            </a:r>
            <a:r>
              <a:rPr lang="pt-BR"/>
              <a:t>Curvas de Carga Típicas</a:t>
            </a:r>
            <a:endParaRPr/>
          </a:p>
          <a:p>
            <a:pPr>
              <a:spcBef>
                <a:spcPts val="2834"/>
              </a:spcBef>
              <a:defRPr/>
            </a:pPr>
            <a:r>
              <a:rPr lang="pt-BR"/>
              <a:t>Roteiro de Cálculo</a:t>
            </a:r>
            <a:endParaRPr/>
          </a:p>
          <a:p>
            <a:pPr marL="763108" lvl="1" indent="-305908">
              <a:buFont typeface="Arial"/>
              <a:buAutoNum type="arabicPeriod"/>
              <a:defRPr/>
            </a:pPr>
            <a:r>
              <a:rPr/>
              <a:t>Estimativa de Consumo (kWh)</a:t>
            </a:r>
            <a:endParaRPr/>
          </a:p>
          <a:p>
            <a:pPr lvl="2">
              <a:spcAft>
                <a:spcPts val="566"/>
              </a:spcAft>
              <a:defRPr/>
            </a:pPr>
            <a:r>
              <a:rPr/>
              <a:t>Consumo provável usando a </a:t>
            </a:r>
            <a:r>
              <a:rPr/>
              <a:t>Potência Instalada</a:t>
            </a:r>
            <a:r>
              <a:rPr/>
              <a:t>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pt-BR" cap="none" spc="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inst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/>
              <a:t>), o </a:t>
            </a:r>
            <a:r>
              <a:rPr/>
              <a:t>Fator de Demanda Típico</a:t>
            </a:r>
            <a:r>
              <a:rPr/>
              <a:t>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pt-BR" cap="none" spc="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/>
              <a:t>) e o </a:t>
            </a:r>
            <a:r>
              <a:rPr/>
              <a:t>Fator de Carga Típico</a:t>
            </a:r>
            <a:r>
              <a:rPr/>
              <a:t>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pt-BR" cap="none" spc="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CT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/>
              <a:t>):</a:t>
            </a:r>
            <a:endParaRPr/>
          </a:p>
          <a:p>
            <a:pPr marL="914400" lvl="2" indent="0" algn="l">
              <a:spcBef>
                <a:spcPts val="1133"/>
              </a:spcBef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pt-BR">
                          <a:latin typeface="Cambria Math"/>
                          <a:ea typeface="Cambria Math"/>
                          <a:cs typeface="Cambria Math"/>
                        </a:rPr>
                        <m:t>Consumo (kWh)</m:t>
                      </m:r>
                      <m:r>
                        <m:rPr/>
                        <a:rPr lang="pt-BR"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pt-BR" cap="none" spc="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inst</m:t>
                          </m:r>
                        </m:sub>
                      </m:sSub>
                      <m:r>
                        <m:rPr/>
                        <a:rPr lang="pt-BR"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sSub>
                        <m:sSubPr>
                          <m:ctrlPr>
                            <a:rPr lang="pt-BR" cap="none" spc="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sub>
                      </m:sSub>
                      <m:r>
                        <m:rPr/>
                        <a:rPr lang="pt-BR"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sSub>
                        <m:sSubPr>
                          <m:ctrlPr>
                            <a:rPr lang="pt-BR" cap="none" spc="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CT</m:t>
                          </m:r>
                        </m:sub>
                      </m:sSub>
                      <m:r>
                        <m:rPr/>
                        <a:rPr lang="pt-BR">
                          <a:latin typeface="Cambria Math"/>
                          <a:ea typeface="Cambria Math"/>
                          <a:cs typeface="Cambria Math"/>
                        </a:rPr>
                        <m:t>×730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 lvl="3">
              <a:spcBef>
                <a:spcPts val="2267"/>
              </a:spcBef>
              <a:defRPr/>
            </a:pPr>
            <a:r>
              <a:rPr/>
              <a:t>Os fatores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pt-BR" cap="none" spc="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/>
              <a:t> 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pt-BR" cap="none" spc="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CT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/>
              <a:t> são tabelados na norma (Anexo II) por tipo de consumidor (Residencial, Comercial, Industrial)</a:t>
            </a:r>
            <a:endParaRPr lang="pt-BR"/>
          </a:p>
        </p:txBody>
      </p:sp>
      <p:sp>
        <p:nvSpPr>
          <p:cNvPr id="8883599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EDC1BC-8721-335B-25E9-832F41FC52E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793323" name="Title 1"/>
          <p:cNvSpPr>
            <a:spLocks noGrp="1"/>
          </p:cNvSpPr>
          <p:nvPr>
            <p:ph type="title"/>
          </p:nvPr>
        </p:nvSpPr>
        <p:spPr bwMode="auto">
          <a:xfrm>
            <a:off x="288000" y="324932"/>
            <a:ext cx="8641080" cy="579479"/>
          </a:xfrm>
        </p:spPr>
        <p:txBody>
          <a:bodyPr/>
          <a:lstStyle/>
          <a:p>
            <a:pPr>
              <a:defRPr/>
            </a:pPr>
            <a:r>
              <a:rPr lang="pt-BR"/>
              <a:t>Metodologia Enel Distribuição SP</a:t>
            </a:r>
            <a:endParaRPr/>
          </a:p>
        </p:txBody>
      </p:sp>
      <p:sp>
        <p:nvSpPr>
          <p:cNvPr id="59166485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763108" marR="0" lvl="1" indent="-305908" algn="l" defTabSz="914400" rtl="0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buFont typeface="Arial"/>
              <a:buAutoNum type="arabicPeriod" startAt="2"/>
              <a:defRPr/>
            </a:pPr>
            <a:r>
              <a:rPr lang="pt-BR"/>
              <a:t>Determinação da Demanda Média</a:t>
            </a:r>
            <a:endParaRPr/>
          </a:p>
          <a:p>
            <a:pPr marL="57150" lvl="0" indent="0" algn="l" defTabSz="914400" rtl="0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pt-BR" cap="none" spc="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kVA</m:t>
                          </m:r>
                        </m:e>
                        <m:sub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médio</m:t>
                          </m:r>
                        </m:sub>
                      </m:sSub>
                      <m:r>
                        <m:rPr/>
                        <a:rPr lang="pt-BR"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pt-BR" cap="none" spc="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Consumo (kWh)</m:t>
                          </m:r>
                        </m:num>
                        <m:den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730×0,92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/>
          </a:p>
          <a:p>
            <a:pPr marL="763108" marR="0" lvl="1" indent="-305908" algn="l" defTabSz="914400" rtl="0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buFont typeface="Arial"/>
              <a:buAutoNum type="arabicPeriod" startAt="3"/>
              <a:defRPr/>
            </a:pPr>
            <a:r>
              <a:rPr lang="pt-BR"/>
              <a:t>Aplicação da Curva de Carga</a:t>
            </a:r>
            <a:endParaRPr lang="pt-BR"/>
          </a:p>
          <a:p>
            <a:pPr lvl="2" algn="l" defTabSz="914400" rtl="0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defRPr/>
            </a:pPr>
            <a:r>
              <a:rPr lang="pt-BR"/>
              <a:t>Consulta-se a Tabela de Curvas de Cargas Típicas (</a:t>
            </a:r>
            <a:r>
              <a:rPr lang="pt-BR" sz="2000" b="0" i="0" u="none" strike="noStrike" cap="none" spc="0">
                <a:solidFill>
                  <a:srgbClr val="00B050"/>
                </a:solidFill>
                <a:latin typeface="Arial"/>
                <a:ea typeface="Arial"/>
                <a:cs typeface="Arial"/>
              </a:rPr>
              <a:t>anexos da Especificação Técnica nº 0018</a:t>
            </a:r>
            <a:r>
              <a:rPr lang="pt-BR"/>
              <a:t>) correspondente à faixa de consumo e classe (ex: Residencial 201-500 kWh)</a:t>
            </a:r>
            <a:endParaRPr lang="pt-BR"/>
          </a:p>
          <a:p>
            <a:pPr lvl="2" algn="l" defTabSz="914400" rtl="0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defRPr/>
            </a:pPr>
            <a:r>
              <a:rPr lang="pt-BR"/>
              <a:t>Multiplica-se o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pt-BR" cap="none" spc="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kVA</m:t>
                          </m:r>
                        </m:e>
                        <m:sub>
                          <m:r>
                            <m:rPr/>
                            <a:rPr lang="pt-BR">
                              <a:latin typeface="Cambria Math"/>
                              <a:ea typeface="Cambria Math"/>
                              <a:cs typeface="Cambria Math"/>
                            </a:rPr>
                            <m:t>médio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pt-BR"/>
              <a:t> pelos valores "PU" (Por Unidade) de cada hora do dia</a:t>
            </a:r>
            <a:endParaRPr lang="pt-BR"/>
          </a:p>
          <a:p>
            <a:pPr lvl="2" algn="l" defTabSz="914400" rtl="0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defRPr/>
            </a:pPr>
            <a:r>
              <a:rPr lang="pt-BR"/>
              <a:t>O maior valor encontrado nessa curva horária será a Demanda Máxima estimada para o dimensionamento do transformador e da entrada de serviço</a:t>
            </a:r>
            <a:endParaRPr/>
          </a:p>
        </p:txBody>
      </p:sp>
      <p:sp>
        <p:nvSpPr>
          <p:cNvPr id="14409691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B67200-A8EE-C987-962A-B03E6ECE94E4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noFill/>
        <a:ln w="25400" cap="flat" cmpd="sng" algn="ctr">
          <a:solidFill>
            <a:srgbClr val="C00000"/>
          </a:solidFill>
          <a:prstDash val="solid"/>
          <a:miter lim="800000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noFill/>
        <a:ln w="25400" cap="flat" cmpd="sng" algn="ctr">
          <a:solidFill>
            <a:srgbClr val="C00000"/>
          </a:solidFill>
          <a:prstDash val="solid"/>
          <a:miter lim="800000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40</cp:revision>
  <dcterms:modified xsi:type="dcterms:W3CDTF">2026-01-15T00:53:23Z</dcterms:modified>
</cp:coreProperties>
</file>